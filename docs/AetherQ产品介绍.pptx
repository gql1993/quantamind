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8A6FF"/>
                </a:solidFill>
              </a:defRPr>
            </a:pPr>
            <a:r>
              <a:t>AetherQ 量智大脑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6EDF3"/>
                </a:solidFill>
              </a:defRPr>
            </a:pPr>
            <a:r>
              <a:t>量子科技自主科研 AI 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949E"/>
                </a:solidFill>
              </a:defRPr>
            </a:pPr>
            <a:r>
              <a:t>多智能体协同 · 全生命周期覆盖 · 12 个开源项目集成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量子科技长三角产业创新中心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产品定位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</a:defRPr>
            </a:pPr>
            <a:r>
              <a:t>一个入口，覆盖量子芯片「设计 → 仿真 → 制造 → 校准 → 测控 → 数据分析」全生命周期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011680"/>
            <a:ext cx="34747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AI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覆盖全链路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2011680"/>
            <a:ext cx="34747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107+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注册工具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可被 LLM 调用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011680"/>
            <a:ext cx="34747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21945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42+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API 端点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REST + SSE + 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34747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开源项目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四大平台集成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4023360"/>
            <a:ext cx="34747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LLM 提供商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一键切换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4023360"/>
            <a:ext cx="34747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206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58A6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846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数据域 · 20表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212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全链路追溯 + 资料库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表现层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Web 客户端（12 页面）· 桌面客户端 · CLI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39"/>
            <a:ext cx="112471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94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网关层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FastAPI · 42 个 REST API · WebSocket · SSE 流式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112471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编排层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Orchestrator · 意图路由 · Tool Call 循环（≤20 轮）· 对话流水线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51959"/>
            <a:ext cx="112471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2976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</a:defRPr>
            </a:pPr>
            <a:r>
              <a:t>推理 + 工具 + 记忆 + 心跳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6634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Brain（7 LLM）| Hands（104 工具）| Memory（项目记忆）| Heartbeat（L0-L3）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</a:defRPr>
            </a:pPr>
            <a:r>
              <a:t>平台适配层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Q-EDA（Metal+KQC）| MES（OpenMES+secsgem+Grafana）| 测控（ARTIQ+Pulse+Mitiq）| 数据（QCoDeS+SeaTunnel+Doris+qData）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12 个 AI 科学家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🧠 协调者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全局调度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246120" y="109728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💎 芯片设计师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Q-EDA 设计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⚛️ 理论物理学家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理论建模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20" y="109728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188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🏭 工艺工程师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1737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MES 制造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39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26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🔧 设备运维员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测控运维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834639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926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📡 测控科学家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测控科研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834639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🧪 材料科学家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材料研发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834639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292607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📊 数据分析师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3474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数据中台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57200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🔬 算法工程师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12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量子算法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457200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🖥️ 仿真工程师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5212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电磁仿真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57200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📚 知识工程师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212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知识管理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89720" y="4572000"/>
            <a:ext cx="274320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EDF3"/>
                </a:solidFill>
              </a:defRPr>
            </a:pPr>
            <a:r>
              <a:t>📋 项目经理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212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8A6FF"/>
                </a:solidFill>
              </a:defRPr>
            </a:pPr>
            <a:r>
              <a:t>项目管理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四大平台 · 12 个开源项目集成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27432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FB950"/>
                </a:solidFill>
              </a:defRPr>
            </a:pPr>
            <a:r>
              <a:t>Q-EDA 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Qiskit Metal（IBM）</a:t>
            </a:r>
            <a:br/>
            <a:r>
              <a:t>KQCircuits（IQM）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设计+分析+版图+掩膜</a:t>
            </a:r>
            <a:br/>
            <a:r>
              <a:t>✅ 已安装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097280"/>
            <a:ext cx="27432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79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29922"/>
                </a:solidFill>
              </a:defRPr>
            </a:pPr>
            <a:r>
              <a:t>MES 制造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79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OpenMES + secsgem</a:t>
            </a:r>
            <a:br/>
            <a:r>
              <a:t>+ Grafana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工艺/批次/良率/SPC</a:t>
            </a:r>
            <a:br/>
            <a:r>
              <a:t>SECS/GEM 设备通信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097280"/>
            <a:ext cx="27432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85149"/>
                </a:solidFill>
              </a:defRPr>
            </a:pPr>
            <a:r>
              <a:t>测控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ARTIQ + Qiskit Pulse</a:t>
            </a:r>
            <a:br/>
            <a:r>
              <a:t>+ Mitiq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实时控制 → 校准</a:t>
            </a:r>
            <a:br/>
            <a:r>
              <a:t>→ 错误缓解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097280"/>
            <a:ext cx="2743200" cy="5029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188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8A6FF"/>
                </a:solidFill>
              </a:defRPr>
            </a:pPr>
            <a:r>
              <a:t>数据中台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8288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6EDF3"/>
                </a:solidFill>
              </a:defRPr>
            </a:pPr>
            <a:r>
              <a:t>QCoDeS + SeaTunnel</a:t>
            </a:r>
            <a:br/>
            <a:r>
              <a:t>+ Doris + qData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2004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</a:defRPr>
            </a:pPr>
            <a:r>
              <a:t>采集 → ETL → OLAP</a:t>
            </a:r>
            <a:br/>
            <a:r>
              <a:t>→ 治理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核心机制：Tool Call 循环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6EDF3"/>
                </a:solidFill>
              </a:defRPr>
            </a:pPr>
            <a:r>
              <a:t>LLM 通过 Function Calling 自主调用 104 个工具，最多 20 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1. 用户发送消息 → Orchestrator 按关键词路由到最优 Agent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2. 加载 Agent 专属 system prompt + 允许的工具列表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3. 注入项目记忆（Memory）→ 发给 LLM（带 tools 参数）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4. LLM 返回 tool_calls → Hands 执行工具 → 结果回注对话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5. LLM 根据结果继续（可能再次调用工具）→ 循环最多 20 轮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6. 最终回复流式返回给客户端 + 自动生成对话流水线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流水线引擎 · 端到端可视化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</a:defRPr>
            </a:pPr>
            <a:r>
              <a:t>两种流水线</a:t>
            </a:r>
          </a:p>
          <a:p>
            <a:pPr>
              <a:defRPr sz="1500">
                <a:solidFill>
                  <a:srgbClr val="E6EDF3"/>
                </a:solidFill>
              </a:defRPr>
            </a:pPr>
            <a:r>
              <a:t>模板流水线（PL-）：预定义端到端流程</a:t>
            </a:r>
          </a:p>
          <a:p>
            <a:pPr lvl="1">
              <a:defRPr sz="1300">
                <a:solidFill>
                  <a:srgbClr val="8B949E"/>
                </a:solidFill>
              </a:defRPr>
            </a:pPr>
            <a:r>
              <a:t>  如 20 比特芯片：6 阶段 101 步 7 Agent</a:t>
            </a:r>
          </a:p>
          <a:p>
            <a:pPr>
              <a:defRPr sz="1500">
                <a:solidFill>
                  <a:srgbClr val="E6EDF3"/>
                </a:solidFill>
              </a:defRPr>
            </a:pPr>
            <a:r>
              <a:t>对话流水线（CL-）：对话中自动生成</a:t>
            </a:r>
          </a:p>
          <a:p>
            <a:pPr lvl="1">
              <a:defRPr sz="1300">
                <a:solidFill>
                  <a:srgbClr val="8B949E"/>
                </a:solidFill>
              </a:defRPr>
            </a:pPr>
            <a:r>
              <a:t>  每次工具调用自动记录并可视化</a:t>
            </a:r>
          </a:p>
          <a:p>
            <a:pPr>
              <a:defRPr sz="800">
                <a:solidFill>
                  <a:srgbClr val="E6EDF3"/>
                </a:solidFill>
              </a:defRPr>
            </a:pP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人工干预</a:t>
            </a:r>
          </a:p>
          <a:p>
            <a:pPr>
              <a:defRPr sz="1500">
                <a:solidFill>
                  <a:srgbClr val="E6EDF3"/>
                </a:solidFill>
              </a:defRPr>
            </a:pPr>
            <a:r>
              <a:t>暂停 / 恢复 / 终止 / 阶段审批门</a:t>
            </a:r>
          </a:p>
          <a:p>
            <a:pPr>
              <a:defRPr sz="800">
                <a:solidFill>
                  <a:srgbClr val="E6EDF3"/>
                </a:solidFill>
              </a:defRPr>
            </a:pPr>
          </a:p>
          <a:p>
            <a:pPr>
              <a:defRPr sz="2000">
                <a:solidFill>
                  <a:srgbClr val="E6EDF3"/>
                </a:solidFill>
              </a:defRPr>
            </a:pPr>
            <a:r>
              <a:t>报告导出</a:t>
            </a:r>
          </a:p>
          <a:p>
            <a:pPr>
              <a:defRPr sz="1500">
                <a:solidFill>
                  <a:srgbClr val="E6EDF3"/>
                </a:solidFill>
              </a:defRPr>
            </a:pPr>
            <a:r>
              <a:t>Word + Markdown：含芯片规格 + 每步数据 + 中文解释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00584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20 比特流水线阶段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1. 💎 芯片设计（64 步）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2. 🖥️ 仿真验证（8 步）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3. 🏭 工艺制造（9 步）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4. 🔧 设备校准（4 步）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5. 📡 测控表征（9 步）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6. 📊 数据分析（7 步）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数据中台 · 全链路追溯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</a:defRPr>
            </a:pPr>
            <a:r>
              <a:t>Q-EDA(设计) + MES(制造) + QCoDeS(测控) → SeaTunnel → Doris → qData → AI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471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设计域（4 表）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chip_designs / simulation_results / drc_reports / gds_exports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112471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制造域（5 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lots / work_orders / yield_records / spc_data / equipment_events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112471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160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测控域（5 表）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qubit_characterization / calibration_records / gate_benchmarks / error_mitigation / raw_measurements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257800"/>
            <a:ext cx="11247120" cy="1005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流水线域（6 表）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7150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pipeline_runs / pipeline_steps / design_params / calibration_params / measurement_results / fabrication_records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FB950"/>
                </a:solidFill>
              </a:defRPr>
            </a:pPr>
            <a:r>
              <a:t>每步数据实时保存 · AI 训练数据集一键导出 · 跨域关联查询 · 数据血缘追溯 · 数据质量检查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</a:defRPr>
            </a:pPr>
            <a:r>
              <a:t>实战案例：20 比特可调耦合器量子芯片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EDF3"/>
                </a:solidFill>
              </a:defRPr>
            </a:pPr>
            <a:r>
              <a:t>文档编号：TGQ-200-000-FA09-2025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芯片尺寸：12.5 × 12.5 mm · 蓝宝石衬底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20 个 Xmon 量子比特（Q_odd 4.65GHz / Q_even 4.56GHz）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19 个可调耦合器（6.88GHz · Transmon + SQUID）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约瑟夫森结：铝-氧化铝-铝 · 200×200nm · Dolan Bridge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设计目标：单门 ≥99.9% · 双门 ≥99% · 读出 ≥99% · T1≥20μs</a:t>
            </a:r>
          </a:p>
          <a:p>
            <a:pPr>
              <a:defRPr sz="1600">
                <a:solidFill>
                  <a:srgbClr val="E6EDF3"/>
                </a:solidFill>
              </a:defRPr>
            </a:pPr>
            <a:r>
              <a:t>端到端流水线：6 阶段 · 7 Agent · 101 步 · ~6 秒完成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Web 客户端 · 12 个页面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97280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运转看板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统计卡片可点击跳转，实时刷新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0" y="1097280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对话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SSE 流式 + 对话流水线面板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097280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流水线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600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模板列表 + 历史 + 实时可视化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377439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2468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28803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Tab 筛选 + 模态详情 + 审批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377439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468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自主发现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8803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Heartbeat 产出，可跳转对话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2377439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4688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Agent 团队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88035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12 Agent 卡片 + 详情展开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657600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79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技能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79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四大平台能力全景 + 触发按钮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06240" y="3657600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数据中台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域表结构 + 血缘 + 质量 + AI 导出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3657600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74903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会话管理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60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按首条消息命名 + 删除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937759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79" y="502919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日志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79" y="5440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级别筛选 + 文本搜索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937759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43400" y="502919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调试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5440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系统状态 + 手动 API 调用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4937759"/>
            <a:ext cx="3657600" cy="1097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502919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</a:defRPr>
            </a:pPr>
            <a:r>
              <a:t>设置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5440679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</a:defRPr>
            </a:pPr>
            <a:r>
              <a:t>7 家 LLM 一键切换 + 持久化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技术亮点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✦ Function Calling 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0972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LLM 自主调用 104 工具 → 执行 → 结果回注 → 继续推理，最多 20 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✦ 多 Agent 协同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965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12 Agent 按关键词路由，每个 Agent 有专属 prompt 和工具权限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✦ 优雅降级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8346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12 个开源库未安装时自动 Mock，不影响系统运行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✦ 实时流水线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703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对话自动生成可视化流水线，每步实时保存到数据中台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✦ LLM 热切换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Web 页面一键切换 7 家 LLM 提供商，配置持久化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</a:defRPr>
            </a:pPr>
            <a:r>
              <a:t>✦ 全链路数据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440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</a:defRPr>
            </a:pPr>
            <a:r>
              <a:t>设计→制造→测控三域数据在 Doris 中跨域关联追溯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</a:defRPr>
            </a:pPr>
            <a:r>
              <a:t>AetherQ 量智大脑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6EDF3"/>
                </a:solidFill>
              </a:defRPr>
            </a:pPr>
            <a:r>
              <a:t>量子科技自主科研 AI 中台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12 个 AI 科学家 Agent · 覆盖量子芯片全生命周期</a:t>
            </a:r>
          </a:p>
          <a:p>
            <a:pPr algn="ctr">
              <a:defRPr sz="1600">
                <a:solidFill>
                  <a:srgbClr val="8B949E"/>
                </a:solidFill>
              </a:defRPr>
            </a:pPr>
            <a:r>
              <a:t>104 个工具 · LLM Function Calling 自主调用</a:t>
            </a:r>
          </a:p>
          <a:p>
            <a:pPr algn="ctr">
              <a:defRPr sz="1600">
                <a:solidFill>
                  <a:srgbClr val="8B949E"/>
                </a:solidFill>
              </a:defRPr>
            </a:pPr>
            <a:r>
              <a:t>12 个开源项目集成 · Qiskit Metal / KQCircuits / ARTIQ / Mitiq …</a:t>
            </a:r>
          </a:p>
          <a:p>
            <a:pPr algn="ctr">
              <a:defRPr sz="1600">
                <a:solidFill>
                  <a:srgbClr val="8B949E"/>
                </a:solidFill>
              </a:defRPr>
            </a:pPr>
            <a:r>
              <a:t>端到端流水线 · 可视化 + 人工审批 + Word 报告</a:t>
            </a:r>
          </a:p>
          <a:p>
            <a:pPr algn="ctr">
              <a:defRPr sz="1600">
                <a:solidFill>
                  <a:srgbClr val="8B949E"/>
                </a:solidFill>
              </a:defRPr>
            </a:pPr>
            <a:r>
              <a:t>数据中台 · 4 域 20 表 · 跨域追溯 · AI 训练数据导出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