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AetherQ 量智大脑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详细设计方案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</a:defRPr>
            </a:pPr>
            <a:r>
              <a:t>量子科技自主科研 AI 中台 · 全生命周期多智能体协同平台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1828800" cy="10972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12 个 AI Agent</a:t>
            </a:r>
            <a:br/>
            <a:r>
              <a:t>覆盖全链路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4114800"/>
            <a:ext cx="1828800" cy="10972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107+ 工具</a:t>
            </a:r>
            <a:br/>
            <a:r>
              <a:t>Function Calling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114800"/>
            <a:ext cx="1828800" cy="10972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13 个开源项目</a:t>
            </a:r>
            <a:br/>
            <a:r>
              <a:t>四大平台集成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79" y="4114800"/>
            <a:ext cx="1828800" cy="10972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3 条流水线</a:t>
            </a:r>
            <a:br/>
            <a:r>
              <a:t>20/100/105比特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114800"/>
            <a:ext cx="1828800" cy="10972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947 条知识</a:t>
            </a:r>
            <a:br/>
            <a:r>
              <a:t>21份文档索引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4114800"/>
            <a:ext cx="1828800" cy="109728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4 域 20 表</a:t>
            </a:r>
            <a:br/>
            <a:r>
              <a:t>跨域追溯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量子科技长三角产业创新中心 · 2026年3月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战略地位与发展目标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战略定位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AetherQ 量智大脑是量子芯片全生命周期的 AI 中台底座，</a:t>
            </a:r>
            <a:br/>
            <a:r>
              <a:t>连接设计→仿真→制造→校准→测控→数据六大环节，</a:t>
            </a:r>
            <a:br/>
            <a:r>
              <a:t>通过多智能体协同实现自主科研加速。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743200"/>
            <a:ext cx="2560320" cy="64008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量子芯片设计</a:t>
            </a:r>
            <a:br/>
            <a:r>
              <a:t>Qiskit Metal + KQCircuits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2926080"/>
            <a:ext cx="45720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743200"/>
            <a:ext cx="2011680" cy="64008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仿真验证</a:t>
            </a:r>
            <a:br/>
            <a:r>
              <a:t>HFSS/Q3D/Sonnet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2926080"/>
            <a:ext cx="45720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743200"/>
            <a:ext cx="2011680" cy="64008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工艺制造</a:t>
            </a:r>
            <a:br/>
            <a:r>
              <a:t>CHIPMES + secsgem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229600" y="2926080"/>
            <a:ext cx="45720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78240" y="2743200"/>
            <a:ext cx="1828800" cy="64008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测控校准</a:t>
            </a:r>
            <a:br/>
            <a:r>
              <a:t>ARTIQ + Pulse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698480" y="2926080"/>
            <a:ext cx="45720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155680" y="2743200"/>
            <a:ext cx="822960" cy="64008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数据</a:t>
            </a:r>
            <a:br/>
            <a:r>
              <a:t>中台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840480"/>
            <a:ext cx="11704320" cy="64008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C00000"/>
                </a:solidFill>
              </a:defRPr>
            </a:pPr>
            <a:r>
              <a:t>AetherQ 量智大脑 · AI 中台（12 Agent · 107 工具 · 知识库 · 流水线 · 自主发现）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822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发展目标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887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t>· 研发周期缩短 50%+（AI 自动设计+优化迭代）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· 全链路数据贯通（设计/制造/测控三域实时关联）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· 7×24 自主科研（Heartbeat 多级心跳 + 自主发现）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· 支持 20/100/105/千比特级芯片设计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· 开放生态（12 个开源项目 + 插件化架构）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系统宏观层级架构设计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822960"/>
            <a:ext cx="5486400" cy="54864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用户交互层：Web 客户端（12页面）· 桌面客户端 · CLI · 项目资料库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43600" y="1417320"/>
            <a:ext cx="228600" cy="36576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8229600" cy="54864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A56DB"/>
                </a:solidFill>
              </a:defRPr>
            </a:pPr>
            <a:r>
              <a:t>网关层 Gateway：FastAPI · 42+ REST API · WebSocket · SSE 流式 · 流水线引擎 · 报告导出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43600" y="2423160"/>
            <a:ext cx="228600" cy="36576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74320" y="2834640"/>
            <a:ext cx="3200400" cy="13716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Brain 推理层</a:t>
            </a:r>
            <a:br/>
            <a:r>
              <a:t>─────────</a:t>
            </a:r>
            <a:br/>
            <a:r>
              <a:t>SmartBrain(自动降级)</a:t>
            </a:r>
            <a:br/>
            <a:r>
              <a:t>OpenAICompat(7家LLM)</a:t>
            </a:r>
            <a:br/>
            <a:r>
              <a:t>Ollama(本地)</a:t>
            </a:r>
            <a:br/>
            <a:r>
              <a:t>Fallback(内置)</a:t>
            </a:r>
            <a:br/>
            <a:r>
              <a:t>─────────</a:t>
            </a:r>
            <a:br/>
            <a:r>
              <a:t>Function Calling</a:t>
            </a:r>
            <a:br/>
            <a:r>
              <a:t>支持 tool_calls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834640"/>
            <a:ext cx="4572000" cy="13716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Orchestrator 编排层</a:t>
            </a:r>
            <a:br/>
            <a:r>
              <a:t>─────────────────</a:t>
            </a:r>
            <a:br/>
            <a:r>
              <a:t>意图路由（关键词匹配 → 12 Agent）</a:t>
            </a:r>
            <a:br/>
            <a:r>
              <a:t>Tool Call 循环（最多 20 轮）</a:t>
            </a:r>
            <a:br/>
            <a:r>
              <a:t>Agent 专属 system prompt + 工具权限</a:t>
            </a:r>
            <a:br/>
            <a:r>
              <a:t>对话流水线自动生成</a:t>
            </a:r>
            <a:br/>
            <a:r>
              <a:t>项目记忆注入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834640"/>
            <a:ext cx="3474720" cy="13716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Memory + Heartbeat</a:t>
            </a:r>
            <a:br/>
            <a:r>
              <a:t>──────────</a:t>
            </a:r>
            <a:br/>
            <a:r>
              <a:t>L2 项目记忆(Markdown)</a:t>
            </a:r>
            <a:br/>
            <a:r>
              <a:t>知识库(947条 · 21文档)</a:t>
            </a:r>
            <a:br/>
            <a:r>
              <a:t>──────────</a:t>
            </a:r>
            <a:br/>
            <a:r>
              <a:t>L0 实时(5min)</a:t>
            </a:r>
            <a:br/>
            <a:r>
              <a:t>L1 巡检(6h)</a:t>
            </a:r>
            <a:br/>
            <a:r>
              <a:t>L2 实验(12h) · L3 洞察(24h)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43600" y="4251960"/>
            <a:ext cx="228600" cy="36576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4572000"/>
            <a:ext cx="11612880" cy="54864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Hands 工具执行层：107+ 注册工具 · 13 个平台适配器 · 优雅降级（未安装自动 Mock）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43600" y="5166360"/>
            <a:ext cx="228600" cy="36576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5394960"/>
            <a:ext cx="2743200" cy="109728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Q-EDA 设计</a:t>
            </a:r>
            <a:br/>
            <a:r>
              <a:t>────────</a:t>
            </a:r>
            <a:br/>
            <a:r>
              <a:t>Qiskit Metal ✅</a:t>
            </a:r>
            <a:br/>
            <a:r>
              <a:t>KQCircuits ✅</a:t>
            </a:r>
            <a:br/>
            <a:r>
              <a:t>QEDA 团队代码</a:t>
            </a:r>
            <a:br/>
            <a:r>
              <a:t>(16份资料)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5394960"/>
            <a:ext cx="2743200" cy="109728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MES 制造</a:t>
            </a:r>
            <a:br/>
            <a:r>
              <a:t>────────</a:t>
            </a:r>
            <a:br/>
            <a:r>
              <a:t>CHIPMES (真实)</a:t>
            </a:r>
            <a:br/>
            <a:r>
              <a:t>OpenMES</a:t>
            </a:r>
            <a:br/>
            <a:r>
              <a:t>secsgem · Grafana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5394960"/>
            <a:ext cx="2743200" cy="109728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测控</a:t>
            </a:r>
            <a:br/>
            <a:r>
              <a:t>────────</a:t>
            </a:r>
            <a:br/>
            <a:r>
              <a:t>ARTIQ</a:t>
            </a:r>
            <a:br/>
            <a:r>
              <a:t>Qiskit Pulse</a:t>
            </a:r>
            <a:br/>
            <a:r>
              <a:t>Mitiq(ZNE/PEC/CDR)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394960"/>
            <a:ext cx="2834640" cy="109728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数据中台</a:t>
            </a:r>
            <a:br/>
            <a:r>
              <a:t>────────</a:t>
            </a:r>
            <a:br/>
            <a:r>
              <a:t>QCoDeS · SeaTunnel</a:t>
            </a:r>
            <a:br/>
            <a:r>
              <a:t>Doris(4域20表)</a:t>
            </a:r>
            <a:br/>
            <a:r>
              <a:t>qData(治理)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Q-EDA 软件全功能及工作流程示意图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737360" cy="82296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需求分析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103120" y="109728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40279" y="822960"/>
            <a:ext cx="1737360" cy="82296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架构设计</a:t>
            </a:r>
            <a:br/>
            <a:r>
              <a:t>拓扑选型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69079" y="109728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822960"/>
            <a:ext cx="1737360" cy="82296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参数设计</a:t>
            </a:r>
            <a:br/>
            <a:r>
              <a:t>频率分配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109728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199" y="822960"/>
            <a:ext cx="1737360" cy="82296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仿真计算</a:t>
            </a:r>
            <a:br/>
            <a:r>
              <a:t>LOM/EPR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01000" y="109728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38160" y="822960"/>
            <a:ext cx="1737360" cy="82296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版图设计</a:t>
            </a:r>
            <a:br/>
            <a:r>
              <a:t>布线 DRC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66960" y="109728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04120" y="822960"/>
            <a:ext cx="1737360" cy="82296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GDS导出</a:t>
            </a:r>
            <a:br/>
            <a:r>
              <a:t>掩膜制造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011680"/>
            <a:ext cx="11612880" cy="45720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00000"/>
                </a:solidFill>
              </a:defRPr>
            </a:pPr>
            <a:r>
              <a:t>AI 智能体全程参与：💎芯片设计师 · ⚛️理论物理学家 · 🖥️仿真工程师 · 📚知识工程师 · 📊数据分析师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</a:defRPr>
            </a:pPr>
            <a:r>
              <a:t>Tool Call 工作流程（以设计 20 比特芯片为例）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" y="3200400"/>
            <a:ext cx="2743200" cy="9144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1. qeda_catalog</a:t>
            </a:r>
            <a:br/>
            <a:r>
              <a:t>查阅 QEDA 资料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26079" y="352044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154679" y="3200400"/>
            <a:ext cx="2743200" cy="9144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2. qeda_get_chip</a:t>
            </a:r>
            <a:br/>
            <a:r>
              <a:t>获取 20bit 规格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43600" y="352044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200" y="3200400"/>
            <a:ext cx="2743200" cy="9144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3. qeda_junction</a:t>
            </a:r>
            <a:br/>
            <a:r>
              <a:t>获取 JJ 参数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61120" y="3520440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19" y="3200400"/>
            <a:ext cx="2743200" cy="91440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4. metal_create</a:t>
            </a:r>
            <a:br/>
            <a:r>
              <a:t>创建 12.5mm 设计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7160" y="4389120"/>
            <a:ext cx="2743200" cy="91440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5. metal_add_transmon</a:t>
            </a:r>
            <a:br/>
            <a:r>
              <a:t>添加 Q1-Q5 比特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926079" y="4709159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54679" y="4389120"/>
            <a:ext cx="2743200" cy="91440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6. metal_add_route</a:t>
            </a:r>
            <a:br/>
            <a:r>
              <a:t>路由布线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943600" y="4709159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72200" y="4389120"/>
            <a:ext cx="2743200" cy="91440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7. metal_export_gds</a:t>
            </a:r>
            <a:br/>
            <a:r>
              <a:t>导出 GDS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961120" y="4709159"/>
            <a:ext cx="27432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9719" y="4389120"/>
            <a:ext cx="2743200" cy="91440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333333"/>
                </a:solidFill>
              </a:defRPr>
            </a:pPr>
            <a:r>
              <a:t>8. 保存到资料库</a:t>
            </a:r>
            <a:br/>
            <a:r>
              <a:t>+ 数据中台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应用层子系统关系图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</a:defRPr>
            </a:pPr>
            <a:r>
              <a:t>上层应用：设计、仿真、制造、测控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743200" cy="9144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版图设计子系统</a:t>
            </a:r>
            <a:br/>
            <a:r>
              <a:t>Qiskit Metal</a:t>
            </a:r>
            <a:br/>
            <a:r>
              <a:t>KQCircuits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188720"/>
            <a:ext cx="2743200" cy="9144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仿真验证子系统</a:t>
            </a:r>
            <a:br/>
            <a:r>
              <a:t>HFSS/Q3D/Sonnet</a:t>
            </a:r>
            <a:br/>
            <a:r>
              <a:t>LOM/EPR 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188720"/>
            <a:ext cx="2743200" cy="91440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制造协同子系统</a:t>
            </a:r>
            <a:br/>
            <a:r>
              <a:t>CHIPMES</a:t>
            </a:r>
            <a:br/>
            <a:r>
              <a:t>OpenMES + secsgem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1188720"/>
            <a:ext cx="2560320" cy="91440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测控子系统</a:t>
            </a:r>
            <a:br/>
            <a:r>
              <a:t>ARTIQ + Pulse</a:t>
            </a:r>
            <a:br/>
            <a:r>
              <a:t>Mitiq 纠错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377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</a:defRPr>
            </a:pPr>
            <a:r>
              <a:t>中层核心：数据与智能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743200"/>
            <a:ext cx="5669280" cy="91440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数据管理子系统</a:t>
            </a:r>
            <a:br/>
            <a:r>
              <a:t>QCoDeS(采集) → SeaTunnel(ETL) → Doris(仓库) → qData(治理)</a:t>
            </a:r>
            <a:br/>
            <a:r>
              <a:t>4 域 20 表 · 跨域追溯 · AI 训练导出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669280" cy="91440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AI 赋能子系统</a:t>
            </a:r>
            <a:br/>
            <a:r>
              <a:t>Brain(7 LLM) · Orchestrator(12 Agent 路由)</a:t>
            </a:r>
            <a:br/>
            <a:r>
              <a:t>107 工具 · 知识库(947条) · Heartbeat(L0-L3)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0000"/>
                </a:solidFill>
              </a:defRPr>
            </a:pPr>
            <a:r>
              <a:t>底层支撑：安全与运维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4297680"/>
            <a:ext cx="5669280" cy="7315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66666"/>
                </a:solidFill>
              </a:defRPr>
            </a:pPr>
            <a:r>
              <a:t>权限与安全子系统</a:t>
            </a:r>
            <a:br/>
            <a:r>
              <a:t>JWT 认证（规划）· RBAC · 审计日志 · 数据分级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297680"/>
            <a:ext cx="5669280" cy="7315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66666"/>
                </a:solidFill>
              </a:defRPr>
            </a:pPr>
            <a:r>
              <a:t>系统管理与运维子系统</a:t>
            </a:r>
            <a:br/>
            <a:r>
              <a:t>日志(ring buffer) · 调试面板 · 配置热更新 · 健康检查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2743200" y="21488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5486400" y="21488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229600" y="21488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wn Arrow 16"/>
          <p:cNvSpPr/>
          <p:nvPr/>
        </p:nvSpPr>
        <p:spPr>
          <a:xfrm>
            <a:off x="10058400" y="21488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2743200" y="370332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8229600" y="370332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发展路线图（2026-2028）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3474720"/>
            <a:ext cx="11247120" cy="7315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822960"/>
            <a:ext cx="2743200" cy="228600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2026 H1</a:t>
            </a:r>
            <a:br/>
            <a:r>
              <a:t>做优基础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Gateway + Brain + Hands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12 Agent · 107 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Web 客户端 12 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Q-EDA 集成(Metal+KQC)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20/105 比特验证</a:t>
            </a:r>
          </a:p>
        </p:txBody>
      </p:sp>
      <p:sp>
        <p:nvSpPr>
          <p:cNvPr id="11" name="Oval 10"/>
          <p:cNvSpPr/>
          <p:nvPr/>
        </p:nvSpPr>
        <p:spPr>
          <a:xfrm>
            <a:off x="1463040" y="333756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3840480"/>
            <a:ext cx="2743200" cy="13716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365760" y="3931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EDA 工具自研</a:t>
            </a:r>
            <a:br/>
            <a:r>
              <a:t>+ 开源集成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822960"/>
            <a:ext cx="2743200" cy="228600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3337560" y="86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2026 H2</a:t>
            </a:r>
            <a:br/>
            <a:r>
              <a:t>做优产品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CHIPMES 真实对接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Memory L1(Redis)+L4(RAG)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安全认证 + 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79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CI/CD +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79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知识图谱 V1.0</a:t>
            </a:r>
          </a:p>
        </p:txBody>
      </p:sp>
      <p:sp>
        <p:nvSpPr>
          <p:cNvPr id="21" name="Oval 20"/>
          <p:cNvSpPr/>
          <p:nvPr/>
        </p:nvSpPr>
        <p:spPr>
          <a:xfrm>
            <a:off x="4434840" y="333756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46120" y="3840480"/>
            <a:ext cx="2743200" cy="13716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3337560" y="3931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推动 Q-EDA 生态</a:t>
            </a:r>
            <a:br/>
            <a:r>
              <a:t>平台化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822960"/>
            <a:ext cx="2743200" cy="228600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09359" y="86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2027</a:t>
            </a:r>
            <a:br/>
            <a:r>
              <a:t>做大市场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MoE 路由 + 多模型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千比特级设计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全自动流水线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模型微调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多团队协同</a:t>
            </a:r>
          </a:p>
        </p:txBody>
      </p:sp>
      <p:sp>
        <p:nvSpPr>
          <p:cNvPr id="31" name="Oval 30"/>
          <p:cNvSpPr/>
          <p:nvPr/>
        </p:nvSpPr>
        <p:spPr>
          <a:xfrm>
            <a:off x="7406640" y="333756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17920" y="3840480"/>
            <a:ext cx="2743200" cy="13716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33" name="TextBox 32"/>
          <p:cNvSpPr txBox="1"/>
          <p:nvPr/>
        </p:nvSpPr>
        <p:spPr>
          <a:xfrm>
            <a:off x="6309359" y="3931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做大行业市场</a:t>
            </a:r>
            <a:br/>
            <a:r>
              <a:t>标准化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89720" y="822960"/>
            <a:ext cx="2743200" cy="22860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9281160" y="868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0000"/>
                </a:solidFill>
              </a:defRPr>
            </a:pPr>
            <a:r>
              <a:t>2028+</a:t>
            </a:r>
            <a:br/>
            <a:r>
              <a:t>做大生态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自主实验设计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17830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黑灯工厂联动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2103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开放插件市场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4231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量子-经典混合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2743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</a:defRPr>
            </a:pPr>
            <a:r>
              <a:t>· 行业标准制定</a:t>
            </a:r>
          </a:p>
        </p:txBody>
      </p:sp>
      <p:sp>
        <p:nvSpPr>
          <p:cNvPr id="41" name="Oval 40"/>
          <p:cNvSpPr/>
          <p:nvPr/>
        </p:nvSpPr>
        <p:spPr>
          <a:xfrm>
            <a:off x="10378440" y="3337560"/>
            <a:ext cx="320040" cy="32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189720" y="3840480"/>
            <a:ext cx="2743200" cy="13716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43" name="TextBox 42"/>
          <p:cNvSpPr txBox="1"/>
          <p:nvPr/>
        </p:nvSpPr>
        <p:spPr>
          <a:xfrm>
            <a:off x="9281160" y="3931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</a:defRPr>
            </a:pPr>
            <a:r>
              <a:t>国际化</a:t>
            </a:r>
            <a:br/>
            <a:r>
              <a:t>开放生态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12 AI 科学家 Agent 协作架构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0" y="914400"/>
            <a:ext cx="2743200" cy="73152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C00000"/>
                </a:solidFill>
              </a:defRPr>
            </a:pPr>
            <a:r>
              <a:t>🧠 协调者</a:t>
            </a:r>
            <a:br/>
            <a:r>
              <a:t>意图路由 · 任务分解 · 冲突仲裁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2743200" cy="73152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💎 芯片设计师</a:t>
            </a:r>
            <a:br/>
            <a:r>
              <a:t>Metal+KQC·GDS</a:t>
            </a:r>
          </a:p>
        </p:txBody>
      </p:sp>
      <p:sp>
        <p:nvSpPr>
          <p:cNvPr id="5" name="Down Arrow 4"/>
          <p:cNvSpPr/>
          <p:nvPr/>
        </p:nvSpPr>
        <p:spPr>
          <a:xfrm>
            <a:off x="1463040" y="16916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2011680"/>
            <a:ext cx="2743200" cy="73152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⚛️ 理论物理学家</a:t>
            </a:r>
            <a:br/>
            <a:r>
              <a:t>哈密顿·噪声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34840" y="16916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2743200" cy="73152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🖥️ 仿真工程师</a:t>
            </a:r>
            <a:br/>
            <a:r>
              <a:t>HFSS·Q3D</a:t>
            </a:r>
          </a:p>
        </p:txBody>
      </p:sp>
      <p:sp>
        <p:nvSpPr>
          <p:cNvPr id="9" name="Down Arrow 8"/>
          <p:cNvSpPr/>
          <p:nvPr/>
        </p:nvSpPr>
        <p:spPr>
          <a:xfrm>
            <a:off x="7406640" y="16916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2011680"/>
            <a:ext cx="2743200" cy="73152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🔬 算法工程师</a:t>
            </a:r>
            <a:br/>
            <a:r>
              <a:t>VQE·QAOA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0378440" y="16916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4320" y="3108960"/>
            <a:ext cx="2743200" cy="73152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🏭 工艺工程师</a:t>
            </a:r>
            <a:br/>
            <a:r>
              <a:t>CHIPMES·良率·SPC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3108960"/>
            <a:ext cx="2743200" cy="73152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🔧 设备运维员</a:t>
            </a:r>
            <a:br/>
            <a:r>
              <a:t>ARTIQ·校准·SECS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108960"/>
            <a:ext cx="2743200" cy="73152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📡 测控科学家</a:t>
            </a:r>
            <a:br/>
            <a:r>
              <a:t>T1/T2·Mitiq纠错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108960"/>
            <a:ext cx="2743200" cy="73152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🧪 材料科学家</a:t>
            </a:r>
            <a:br/>
            <a:r>
              <a:t>格物·高通量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4206240"/>
            <a:ext cx="2743200" cy="73152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📊 数据分析师</a:t>
            </a:r>
            <a:br/>
            <a:r>
              <a:t>Doris·qData·追溯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4206240"/>
            <a:ext cx="2743200" cy="73152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📚 知识工程师</a:t>
            </a:r>
            <a:br/>
            <a:r>
              <a:t>文献·知识图谱·经验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4206240"/>
            <a:ext cx="2743200" cy="7315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📋 项目经理</a:t>
            </a:r>
            <a:br/>
            <a:r>
              <a:t>周报·里程碑·风险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303520"/>
            <a:ext cx="11612880" cy="54864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C00000"/>
                </a:solidFill>
              </a:defRPr>
            </a:pPr>
            <a:r>
              <a:t>共享基础：项目记忆 · 知识库(947条) · 项目资料库(16份QEDA资料) · 工具执行层(107+工具) · 数据中台(4域20表)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端到端流水线工作流程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以 20 比特可调耦合器芯片为例（6 阶段 · 7 Agent · ~101 步 · ~10 秒）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1188720"/>
            <a:ext cx="1828800" cy="54864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阶段1</a:t>
            </a:r>
            <a:br/>
            <a:r>
              <a:t>芯片设计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920240"/>
            <a:ext cx="1828800" cy="32004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创建设计</a:t>
            </a:r>
            <a:br/>
            <a:r>
              <a:t>20 Xmon比特</a:t>
            </a:r>
            <a:br/>
            <a:r>
              <a:t>19 耦合器</a:t>
            </a:r>
            <a:br/>
            <a:r>
              <a:t>路由布线</a:t>
            </a:r>
            <a:br/>
            <a:r>
              <a:t>GDS + 掩膜</a:t>
            </a:r>
            <a:br/>
            <a:r>
              <a:t>~64 步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79" y="1371600"/>
            <a:ext cx="18288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121408" y="1188720"/>
            <a:ext cx="1828800" cy="54864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阶段2</a:t>
            </a:r>
            <a:br/>
            <a:r>
              <a:t>仿真验证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21408" y="1920240"/>
            <a:ext cx="1828800" cy="32004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Q3D 电容矩阵</a:t>
            </a:r>
            <a:br/>
            <a:r>
              <a:t>EPR 本征模</a:t>
            </a:r>
            <a:br/>
            <a:r>
              <a:t>Ansys HFSS</a:t>
            </a:r>
            <a:br/>
            <a:r>
              <a:t>Sonnet 导出</a:t>
            </a:r>
            <a:br/>
            <a:r>
              <a:t>~8 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95927" y="1371600"/>
            <a:ext cx="18288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05656" y="1188720"/>
            <a:ext cx="1828800" cy="54864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阶段3</a:t>
            </a:r>
            <a:br/>
            <a:r>
              <a:t>工艺制造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5656" y="1920240"/>
            <a:ext cx="1828800" cy="32004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8步工艺流程</a:t>
            </a:r>
            <a:br/>
            <a:r>
              <a:t>批次派工</a:t>
            </a:r>
            <a:br/>
            <a:r>
              <a:t>良率/SPC</a:t>
            </a:r>
            <a:br/>
            <a:r>
              <a:t>设备检查</a:t>
            </a:r>
            <a:br/>
            <a:r>
              <a:t>封装</a:t>
            </a:r>
            <a:br/>
            <a:r>
              <a:t>~9 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6" y="1371600"/>
            <a:ext cx="18288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89904" y="1188720"/>
            <a:ext cx="1828800" cy="54864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阶段4</a:t>
            </a:r>
            <a:br/>
            <a:r>
              <a:t>设备校准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920240"/>
            <a:ext cx="1828800" cy="32004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ARTIQ 硬件</a:t>
            </a:r>
            <a:br/>
            <a:r>
              <a:t>Pulse 全套校准</a:t>
            </a:r>
            <a:br/>
            <a:r>
              <a:t>频率+振幅</a:t>
            </a:r>
            <a:br/>
            <a:r>
              <a:t>DRAG+读出</a:t>
            </a:r>
            <a:br/>
            <a:r>
              <a:t>~4 步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64424" y="1371600"/>
            <a:ext cx="18288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1188720"/>
            <a:ext cx="1828800" cy="54864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阶段5</a:t>
            </a:r>
            <a:br/>
            <a:r>
              <a:t>测控表征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1920240"/>
            <a:ext cx="1828800" cy="32004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光谱/Rabi</a:t>
            </a:r>
            <a:br/>
            <a:r>
              <a:t>T1/T2/Echo</a:t>
            </a:r>
            <a:br/>
            <a:r>
              <a:t>读出优化</a:t>
            </a:r>
            <a:br/>
            <a:r>
              <a:t>Mitiq 纠错</a:t>
            </a:r>
            <a:br/>
            <a:r>
              <a:t>~9 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948672" y="1371600"/>
            <a:ext cx="182880" cy="228600"/>
          </a:xfrm>
          <a:prstGeom prst="right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0" y="1188720"/>
            <a:ext cx="1828800" cy="54864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阶段6</a:t>
            </a:r>
            <a:br/>
            <a:r>
              <a:t>数据分析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920240"/>
            <a:ext cx="1828800" cy="320040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跨域追溯</a:t>
            </a:r>
            <a:br/>
            <a:r>
              <a:t>质量检查</a:t>
            </a:r>
            <a:br/>
            <a:r>
              <a:t>保存中台</a:t>
            </a:r>
            <a:br/>
            <a:r>
              <a:t>AI 导出</a:t>
            </a:r>
            <a:br/>
            <a:r>
              <a:t>~7 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0000"/>
                </a:solidFill>
              </a:defRPr>
            </a:pPr>
            <a:r>
              <a:t>🚦 可选：阶段间人工审批门 | ⏸ 暂停/恢复/终止 | 📄 Word + MD 报告导出 | 每步数据自动保存到数据中台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5760720"/>
            <a:ext cx="3657600" cy="54864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模板1: 20比特 一维链 12.5mm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5760720"/>
            <a:ext cx="3657600" cy="54864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模板2: 100比特 二维网格 20mm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5760720"/>
            <a:ext cx="3749039" cy="54864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模板3: 105比特 15×7网格 25mm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数据中台与项目资料库架构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286000" cy="9144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Q-EDA</a:t>
            </a:r>
            <a:br/>
            <a:r>
              <a:t>设计数据</a:t>
            </a:r>
            <a:br/>
            <a:r>
              <a:t>GDS/参数/仿真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914400"/>
            <a:ext cx="2286000" cy="91440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CHIPMES</a:t>
            </a:r>
            <a:br/>
            <a:r>
              <a:t>制造数据</a:t>
            </a:r>
            <a:br/>
            <a:r>
              <a:t>工单/良率/SPC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914400"/>
            <a:ext cx="2286000" cy="91440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ARTIQ/Pulse</a:t>
            </a:r>
            <a:br/>
            <a:r>
              <a:t>测控数据</a:t>
            </a:r>
            <a:br/>
            <a:r>
              <a:t>T1/T2/校准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914400"/>
            <a:ext cx="2286000" cy="914400"/>
          </a:xfrm>
          <a:prstGeom prst="roundRect">
            <a:avLst/>
          </a:prstGeom>
          <a:solidFill>
            <a:srgbClr val="F8E0E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33333"/>
                </a:solidFill>
              </a:defRPr>
            </a:pPr>
            <a:r>
              <a:t>流水线</a:t>
            </a:r>
            <a:br/>
            <a:r>
              <a:t>执行数据</a:t>
            </a:r>
            <a:br/>
            <a:r>
              <a:t>步骤/参数/结果</a:t>
            </a:r>
          </a:p>
        </p:txBody>
      </p:sp>
      <p:sp>
        <p:nvSpPr>
          <p:cNvPr id="7" name="Down Arrow 6"/>
          <p:cNvSpPr/>
          <p:nvPr/>
        </p:nvSpPr>
        <p:spPr>
          <a:xfrm>
            <a:off x="1280160" y="19202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own Arrow 7"/>
          <p:cNvSpPr/>
          <p:nvPr/>
        </p:nvSpPr>
        <p:spPr>
          <a:xfrm>
            <a:off x="3749039" y="19202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6217920" y="19202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8686800" y="192024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320" y="2286000"/>
            <a:ext cx="9692640" cy="54864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SeaTunnel ETL 管道：100+ 连接器 · 批量/实时/CDC 同步 · Exactly-Once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029200" y="288036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3200400"/>
            <a:ext cx="9692640" cy="1371600"/>
          </a:xfrm>
          <a:prstGeom prst="roundRect">
            <a:avLst/>
          </a:prstGeom>
          <a:solidFill>
            <a:srgbClr val="D6E4F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56DB"/>
                </a:solidFill>
              </a:defRPr>
            </a:pPr>
            <a:r>
              <a:t>Apache Doris OLAP 数据仓库 · 亚秒级 SQL · MPP 列式存储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57600"/>
            <a:ext cx="219456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设计域(4表)</a:t>
            </a:r>
            <a:br/>
            <a:r>
              <a:t>designs</a:t>
            </a:r>
            <a:br/>
            <a:r>
              <a:t>simulations</a:t>
            </a:r>
            <a:br/>
            <a:r>
              <a:t>drc · gds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3657600"/>
            <a:ext cx="219456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制造域(5表)</a:t>
            </a:r>
            <a:br/>
            <a:r>
              <a:t>lots · orders</a:t>
            </a:r>
            <a:br/>
            <a:r>
              <a:t>yield · spc</a:t>
            </a:r>
            <a:br/>
            <a:r>
              <a:t>equipment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3657600"/>
            <a:ext cx="219456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测控域(5表)</a:t>
            </a:r>
            <a:br/>
            <a:r>
              <a:t>characterization</a:t>
            </a:r>
            <a:br/>
            <a:r>
              <a:t>calibration</a:t>
            </a:r>
            <a:br/>
            <a:r>
              <a:t>benchmarks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3657600"/>
            <a:ext cx="2194560" cy="7315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33333"/>
                </a:solidFill>
              </a:defRPr>
            </a:pPr>
            <a:r>
              <a:t>流水线域(6表)</a:t>
            </a:r>
            <a:br/>
            <a:r>
              <a:t>pipeline_runs</a:t>
            </a:r>
            <a:br/>
            <a:r>
              <a:t>steps · params</a:t>
            </a:r>
            <a:br/>
            <a:r>
              <a:t>measurements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029200" y="4617720"/>
            <a:ext cx="228600" cy="274320"/>
          </a:xfrm>
          <a:prstGeom prst="downArrow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4937760"/>
            <a:ext cx="9692640" cy="548640"/>
          </a:xfrm>
          <a:prstGeom prst="roundRect">
            <a:avLst/>
          </a:prstGeom>
          <a:solidFill>
            <a:srgbClr val="E0F0E4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qData 数据治理：资产目录 · 标准管理 · 质量检查 · Text2SQL · 血缘追溯 · 数据服务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914400"/>
            <a:ext cx="1737360" cy="4572000"/>
          </a:xfrm>
          <a:prstGeom prst="roundRect">
            <a:avLst/>
          </a:prstGeom>
          <a:solidFill>
            <a:srgbClr val="FDF0D5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33333"/>
                </a:solidFill>
              </a:defRPr>
            </a:pPr>
            <a:r>
              <a:t>项目资料库</a:t>
            </a:r>
            <a:br/>
            <a:r>
              <a:t>────────</a:t>
            </a:r>
            <a:br/>
            <a:r>
              <a:t>自定义文件夹</a:t>
            </a:r>
            <a:br/>
            <a:br/>
            <a:r>
              <a:t>📁 QEDA</a:t>
            </a:r>
            <a:br/>
            <a:r>
              <a:t>  (16份)</a:t>
            </a:r>
            <a:br/>
            <a:r>
              <a:t>📁 MES数据</a:t>
            </a:r>
            <a:br/>
            <a:r>
              <a:t>📁 测控记录</a:t>
            </a:r>
            <a:br/>
            <a:r>
              <a:t>📁 文献</a:t>
            </a:r>
            <a:br/>
            <a:br/>
            <a:r>
              <a:t>11种格式</a:t>
            </a:r>
            <a:br/>
            <a:r>
              <a:t>自动解析</a:t>
            </a:r>
            <a:br/>
            <a:r>
              <a:t>拖拽上传</a:t>
            </a:r>
            <a:br/>
            <a:r>
              <a:t>持久化索引</a:t>
            </a:r>
            <a:br/>
            <a:r>
              <a:t>全 Agent</a:t>
            </a:r>
            <a:br/>
            <a:r>
              <a:t>可调用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"/>
            <a:ext cx="12188952" cy="5486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  关键技术指标与预期成果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91440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12</a:t>
            </a:r>
            <a:br/>
            <a:r>
              <a:t>AI Agent</a:t>
            </a:r>
            <a:br/>
            <a:r>
              <a:t>覆盖全生命周期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91440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107+</a:t>
            </a:r>
            <a:br/>
            <a:r>
              <a:t>注册工具</a:t>
            </a:r>
            <a:br/>
            <a:r>
              <a:t>LLM Function Calling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91440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42+</a:t>
            </a:r>
            <a:br/>
            <a:r>
              <a:t>API 端点</a:t>
            </a:r>
            <a:br/>
            <a:r>
              <a:t>REST + SSE + 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89720" y="91440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13</a:t>
            </a:r>
            <a:br/>
            <a:r>
              <a:t>开源项目</a:t>
            </a:r>
            <a:br/>
            <a:r>
              <a:t>四大平台集成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37744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7</a:t>
            </a:r>
            <a:br/>
            <a:r>
              <a:t>LLM 提供商</a:t>
            </a:r>
            <a:br/>
            <a:r>
              <a:t>一键热切换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237744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947</a:t>
            </a:r>
            <a:br/>
            <a:r>
              <a:t>知识条目</a:t>
            </a:r>
            <a:br/>
            <a:r>
              <a:t>21份文档索引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7744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3</a:t>
            </a:r>
            <a:br/>
            <a:r>
              <a:t>流水线模板</a:t>
            </a:r>
            <a:br/>
            <a:r>
              <a:t>20/100/105比特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9720" y="2377440"/>
            <a:ext cx="2743200" cy="1188720"/>
          </a:xfrm>
          <a:prstGeom prst="roundRect">
            <a:avLst/>
          </a:prstGeom>
          <a:solidFill>
            <a:srgbClr val="F0F4F8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333"/>
                </a:solidFill>
              </a:defRPr>
            </a:pPr>
            <a:r>
              <a:t>4域20表</a:t>
            </a:r>
            <a:br/>
            <a:r>
              <a:t>数据中台</a:t>
            </a:r>
            <a:br/>
            <a:r>
              <a:t>跨域追溯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00000"/>
                </a:solidFill>
              </a:defRPr>
            </a:pPr>
            <a:r>
              <a:t>预期成果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· 填补行业工具空白：量子芯片设计全流程 AI 中台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· 实现设计与工艺深度融合：设计→制造→测控数据贯通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· 提升国产设计工具自主可控能力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· 保障核心技术自主可控：降低对 Ansys 等国外软件依赖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45720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</a:defRPr>
            </a:pPr>
            <a:r>
              <a:t>· 研发效率提升 50%+（AI 自动设计迭代）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· 支持千比特级芯片设计（2027 目标）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· 形成开放生态和行业标准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· 持续推进自主科研 AI 系统建设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