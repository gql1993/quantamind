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8A6FF"/>
                </a:solidFill>
              </a:defRPr>
            </a:pPr>
            <a:r>
              <a:t>AetherQ 量智大脑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6EDF3"/>
                </a:solidFill>
              </a:defRPr>
            </a:pPr>
            <a:r>
              <a:t>详细设计方案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</a:defRPr>
            </a:pPr>
            <a:r>
              <a:t>量子科技自主科研 AI 中台 · 全生命周期多智能体协同平台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量子科技长三角产业创新中心</a:t>
            </a:r>
            <a:br/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6EDF3"/>
                </a:solidFill>
              </a:defRPr>
            </a:pPr>
            <a:r>
              <a:t>01  发展目标与愿景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02  发展重点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03  发展路线图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04  技术架构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05  软件产品模块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06  AI 智能体团队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07  平台集成（四大域）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08  工作流程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09  数据中台与资料库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10  关键技术指标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01  发展目标与愿景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</a:defRPr>
            </a:pPr>
            <a:r>
              <a:t>打造量子芯片「设计→仿真→制造→校准→测控→数据分析」全生命周期自主科研 AI 中台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365760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自主科研加速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</a:defRPr>
            </a:pPr>
            <a:r>
              <a:t>将量子芯片研发周期</a:t>
            </a:r>
            <a:br/>
            <a:r>
              <a:t>缩短 50%+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AI Agent 自动完成</a:t>
            </a:r>
            <a:br/>
            <a:r>
              <a:t>设计→仿真→优化迭代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828800"/>
            <a:ext cx="365760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全链路数据贯通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</a:defRPr>
            </a:pPr>
            <a:r>
              <a:t>设计/制造/测控三域</a:t>
            </a:r>
            <a:br/>
            <a:r>
              <a:t>数据实时关联追溯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114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数据驱动科研决策</a:t>
            </a:r>
            <a:br/>
            <a:r>
              <a:t>AI 持续学习迭代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多智能体协同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</a:defRPr>
            </a:pPr>
            <a:r>
              <a:t>12 个 AI 科学家</a:t>
            </a:r>
            <a:br/>
            <a:r>
              <a:t>覆盖全生命周期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114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人机协同 + 自主发现</a:t>
            </a:r>
            <a:br/>
            <a:r>
              <a:t>7×24 不间断科研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02  发展重点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</a:defRPr>
            </a:pPr>
            <a:r>
              <a:t>核心能力建设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05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· Tool Call 闭环：LLM 自主调用 107+ 工具执行操作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417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· 多 Agent 协同：12 Agent 按意图路由，专属 prompt + 工具权限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· 知识库检索：947 条知识条目，从设计文档中实时检索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</a:defRPr>
            </a:pPr>
            <a:r>
              <a:t>平台深度集成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834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· Q-EDA：Qiskit Metal + KQCircuits（已安装，真实调用）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46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· MES：CHIPMES 真实系统对接（端口 8082）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657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· 测控：ARTIQ + Qiskit Pulse + Mitiq 三层测控栈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069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· 数据：QCoDeS + SeaTunnel + Doris + qData 四层数据底座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</a:defRPr>
            </a:pPr>
            <a:r>
              <a:t>产品化与体验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663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· Web 客户端 12 个页面，暗色主题，OpenClaw 风格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074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· 流水线引擎：3 模板（20/100/105 比特）+ 对话自动生成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486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· 项目资料库：自定义文件夹 + 拖拽上传 + 自动解析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89787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· 全环节文件自动保存 + Word/Markdown 报告导出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03  发展路线图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283464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2026 Q1-Q2</a:t>
            </a:r>
            <a:br/>
            <a:r>
              <a:t>基础平台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Gateway + Brain + Hands 核心架构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6974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Tool Call 循环 + 12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2918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Web 客户端 + 流水线引擎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86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Q-EDA / MES 基础集成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20/105 比特芯片设计验证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097280"/>
            <a:ext cx="283464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188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B950"/>
                </a:solidFill>
              </a:defRPr>
            </a:pPr>
            <a:r>
              <a:t>2026 Q3-Q4</a:t>
            </a:r>
            <a:br/>
            <a:r>
              <a:t>V1.0 发布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真实平台全面对接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6974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Memory L1(Redis) + L4(向量RAG)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2918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知识图谱 + 文献自动追踪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3886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安全认证(JWT) + 审计日志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CI/CD + Docker 容器化部署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097280"/>
            <a:ext cx="283464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1188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2027 H1</a:t>
            </a:r>
            <a:br/>
            <a:r>
              <a:t>V2.0 深化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MoE 路由 + 多模型推理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6974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Heartbeat 全层级自主科研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2918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多项目 + 多团队协同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886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训练数据集 → 模型微调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千比特级芯片设计支持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0576" y="1097280"/>
            <a:ext cx="283464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5" y="1188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5149"/>
                </a:solidFill>
              </a:defRPr>
            </a:pPr>
            <a:r>
              <a:t>2027 H2+</a:t>
            </a:r>
            <a:br/>
            <a:r>
              <a:t>自主科研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AI 自主实验设计与执行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6" y="26974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设计→制造→测控全自动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32918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黑灯工厂联动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3886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量子-经典混合优化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· 开放生态 + 插件市场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04  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05840"/>
            <a:ext cx="1161288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表现层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Web 客户端（12 页面）· 桌面客户端 · CLI · 项目资料库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57400"/>
            <a:ext cx="1161288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75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网关层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FastAPI · 42+ REST API · WebSocket · SSE 流式 · 报告导出（Word/MD）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08960"/>
            <a:ext cx="1161288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27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编排层 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意图路由（关键词）· Tool Call 循环（≤20 轮）· 对话流水线 · 阶段审批门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60520"/>
            <a:ext cx="1161288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17880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</a:defRPr>
            </a:pPr>
            <a:r>
              <a:t>Brain + Hands + Memory + Heartbeat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7 LLM 提供商 | 107+ 工具 · 12 适配器 | 项目记忆 + 知识库(947条) | L0-L3 自主发现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212079"/>
            <a:ext cx="1161288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23036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922"/>
                </a:solidFill>
              </a:defRPr>
            </a:pPr>
            <a:r>
              <a:t>平台适配层 · 12 个开源项目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2355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Q-EDA(Metal+KQC) | MES(CHIPMES+OpenMES+secsgem) | 测控(ARTIQ+Pulse+Mitiq) | 数据(QCoDeS+SeaTunnel+Doris+qData)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05  软件产品模块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058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运转看板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实时监控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Gateway/任务/Agent/</a:t>
            </a:r>
            <a:br/>
            <a:r>
              <a:t>平台状态一览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2112" y="10058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3552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AI 交互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1828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SSE 流式 + Tool Call</a:t>
            </a:r>
            <a:br/>
            <a:r>
              <a:t>+ 对话流水线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0058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流水线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端到端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1828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3 模板(20/100/105bit)</a:t>
            </a:r>
            <a:br/>
            <a:r>
              <a:t>可视化 + 审批门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576" y="10058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5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管理审批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5" y="1828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待办/进行/完成/审批</a:t>
            </a:r>
            <a:br/>
            <a:r>
              <a:t>模态详情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8346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自主发现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Heartbeat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657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L0-L3 四级心跳</a:t>
            </a:r>
            <a:br/>
            <a:r>
              <a:t>文献/实验/洞察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2" y="28346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Agent 团队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12 智能体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3657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卡片 + 详情展开</a:t>
            </a:r>
            <a:br/>
            <a:r>
              <a:t>快捷操作 → 对话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28346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2783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技能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3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能力全景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3" y="3657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Q-EDA/MES/测控/数据</a:t>
            </a:r>
            <a:br/>
            <a:r>
              <a:t>四大平台能力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28346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72015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项目资料库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5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文件管理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2015" y="3657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自定义文件夹 + 上传</a:t>
            </a:r>
            <a:br/>
            <a:r>
              <a:t>自动解析 + 持久化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46634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7548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数据中台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120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数据底座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486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4域20表 + 血缘/质量</a:t>
            </a:r>
            <a:br/>
            <a:r>
              <a:t>AI 训练导出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82112" y="46634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73552" y="47548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设置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3552" y="5120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配置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3552" y="5486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7 家 LLM 一键切换</a:t>
            </a:r>
            <a:br/>
            <a:r>
              <a:t>API Key 持久化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1344" y="46634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3" y="47548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日志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3" y="5120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运维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3" y="5486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级别筛选 + 搜索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0576" y="4663440"/>
            <a:ext cx="283464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72015" y="47548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调试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2015" y="5120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开发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2015" y="5486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状态/健康 + 手动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06  AI 智能体团队（12 个）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058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协调者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全局调度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任务分解 · 路由 · 冲突仲裁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2112" y="10058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3552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芯片设计师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Q-EDA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Metal + KQC · GDS · QEDA 资料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0058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理论物理学家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理论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哈密顿量 · 噪声 · 方案生成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576" y="10058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5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工艺工程师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MES 制造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5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CHIPMES · 良率 · SPC · 派工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8346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设备运维员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测控运维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657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ARTIQ · Pulse校准 · SECS/GEM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2" y="28346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测控科学家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测控科研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3657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T1/T2 · Mitiq纠错 · 表征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28346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2783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材料科学家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3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材料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3" y="3657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格物平台 · 高通量计算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28346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72015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数据分析师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5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2015" y="3657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Doris · qData · 跨域追溯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46634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7548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算法工程师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120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算法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486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VQE/QAOA · 电路编译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82112" y="46634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73552" y="47548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仿真工程师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3552" y="5120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仿真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3552" y="5486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HFSS/Q3D/Sonnet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1344" y="46634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3" y="47548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知识工程师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3" y="5120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知识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3" y="5486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知识库 · 文献 · 经验沉淀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0576" y="46634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72015" y="47548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</a:defRPr>
            </a:pPr>
            <a:r>
              <a:t>项目经理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2015" y="5120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2015" y="5486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周报 · 里程碑 · 风险预警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07  平台集成（四大域 · 13 个项目）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05840"/>
            <a:ext cx="283464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</a:defRPr>
            </a:pPr>
            <a:r>
              <a:t>Q-EDA 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</a:defRPr>
            </a:pPr>
            <a:r>
              <a:t>Qiskit Metal (IBM)</a:t>
            </a:r>
            <a:br/>
            <a:r>
              <a:t>KQCircuits (IQM)</a:t>
            </a:r>
            <a:br/>
            <a:r>
              <a:t>QEDA 团队代码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设计 + 分析 + 版图</a:t>
            </a:r>
            <a:br/>
            <a:r>
              <a:t>LOM/EPR · GDS</a:t>
            </a:r>
            <a:br/>
            <a:r>
              <a:t>掩膜 · 16份资料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2112" y="1005840"/>
            <a:ext cx="283464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3552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29922"/>
                </a:solidFill>
              </a:defRPr>
            </a:pPr>
            <a:r>
              <a:t>MES 制造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16459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</a:defRPr>
            </a:pPr>
            <a:r>
              <a:t>CHIPMES (真实系统)</a:t>
            </a:r>
            <a:br/>
            <a:r>
              <a:t>OpenMES · secsgem</a:t>
            </a:r>
            <a:br/>
            <a:r>
              <a:t>Grafana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订单 · 工艺路线</a:t>
            </a:r>
            <a:br/>
            <a:r>
              <a:t>设备 · 良率 · SPC</a:t>
            </a:r>
            <a:br/>
            <a:r>
              <a:t>SECS/GEM 通信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005840"/>
            <a:ext cx="283464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85149"/>
                </a:solidFill>
              </a:defRPr>
            </a:pPr>
            <a:r>
              <a:t>测控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16459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</a:defRPr>
            </a:pPr>
            <a:r>
              <a:t>ARTIQ (M-Labs)</a:t>
            </a:r>
            <a:br/>
            <a:r>
              <a:t>Qiskit Pulse</a:t>
            </a:r>
            <a:br/>
            <a:r>
              <a:t>Mitiq (Unitary Fund)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FPGA ns 控制</a:t>
            </a:r>
            <a:br/>
            <a:r>
              <a:t>门校准优化</a:t>
            </a:r>
            <a:br/>
            <a:r>
              <a:t>ZNE/PEC/CDR 纠错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576" y="1005840"/>
            <a:ext cx="283464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5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</a:defRPr>
            </a:pPr>
            <a:r>
              <a:t>数据中台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16459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</a:defRPr>
            </a:pPr>
            <a:r>
              <a:t>QCoDeS · SeaTunnel</a:t>
            </a:r>
            <a:br/>
            <a:r>
              <a:t>Doris · qData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5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采集 → ETL</a:t>
            </a:r>
            <a:br/>
            <a:r>
              <a:t>OLAP 仓库</a:t>
            </a:r>
            <a:br/>
            <a:r>
              <a:t>治理 + Text2SQL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08  工作流程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</a:defRPr>
            </a:pPr>
            <a:r>
              <a:t>以 20 比特可调耦合器芯片为例的端到端流程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1463040"/>
            <a:ext cx="1874519" cy="4754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5544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1. 芯片设计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查阅 QEDA 资料</a:t>
            </a:r>
            <a:br/>
            <a:r>
              <a:t>查询芯片规格(真实参数)</a:t>
            </a:r>
            <a:br/>
            <a:r>
              <a:t>创建 Metal 设计</a:t>
            </a:r>
            <a:br/>
            <a:r>
              <a:t>添加 20 Xmon + 19 耦合器</a:t>
            </a:r>
            <a:br/>
            <a:r>
              <a:t>路由布线 · 导出 GDS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463040"/>
            <a:ext cx="1874519" cy="4754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7127" y="15544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371F7"/>
                </a:solidFill>
              </a:defRPr>
            </a:pPr>
            <a:r>
              <a:t>2. 仿真验证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7" y="210312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Q3D 电容矩阵</a:t>
            </a:r>
            <a:br/>
            <a:r>
              <a:t>EPR 本征模分析</a:t>
            </a:r>
            <a:br/>
            <a:r>
              <a:t>Ansys HFSS 导出</a:t>
            </a:r>
            <a:br/>
            <a:r>
              <a:t>Sonnet 导出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05656" y="1463040"/>
            <a:ext cx="1874519" cy="4754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1376" y="15544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29922"/>
                </a:solidFill>
              </a:defRPr>
            </a:pPr>
            <a:r>
              <a:t>3. 工艺制造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6" y="210312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工艺路线(8步)</a:t>
            </a:r>
            <a:br/>
            <a:r>
              <a:t>批次派工</a:t>
            </a:r>
            <a:br/>
            <a:r>
              <a:t>良率检测 · SPC</a:t>
            </a:r>
            <a:br/>
            <a:r>
              <a:t>设备告警 · 封装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463040"/>
            <a:ext cx="1874519" cy="4754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15544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FB950"/>
                </a:solidFill>
              </a:defRPr>
            </a:pPr>
            <a:r>
              <a:t>4. 校准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210312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ARTIQ 硬件就绪</a:t>
            </a:r>
            <a:br/>
            <a:r>
              <a:t>Pulse 全套校准</a:t>
            </a:r>
            <a:br/>
            <a:r>
              <a:t>频率+振幅+DRAG+读出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1463040"/>
            <a:ext cx="1874519" cy="4754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15544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5149"/>
                </a:solidFill>
              </a:defRPr>
            </a:pPr>
            <a:r>
              <a:t>5. 测控表征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210312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光谱/Rabi/T1/T2</a:t>
            </a:r>
            <a:br/>
            <a:r>
              <a:t>读出优化</a:t>
            </a:r>
            <a:br/>
            <a:r>
              <a:t>Mitiq 纠错对比</a:t>
            </a:r>
            <a:br/>
            <a:r>
              <a:t>动力学去耦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463040"/>
            <a:ext cx="1874519" cy="4754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15544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6. 数据分析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210312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跨域追溯</a:t>
            </a:r>
            <a:br/>
            <a:r>
              <a:t>数据质量检查</a:t>
            </a:r>
            <a:br/>
            <a:r>
              <a:t>保存到数据中台</a:t>
            </a:r>
            <a:br/>
            <a:r>
              <a:t>AI 训练导出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09  数据中台与项目资料库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</a:defRPr>
            </a:pPr>
            <a:r>
              <a:t>数据中台 · 4 域 20 表</a:t>
            </a:r>
          </a:p>
          <a:p>
            <a:pPr>
              <a:defRPr sz="1300">
                <a:solidFill>
                  <a:srgbClr val="8B949E"/>
                </a:solidFill>
              </a:defRPr>
            </a:pPr>
            <a:r>
              <a:t>设计域(4表)：designs/simulations/drc/gds</a:t>
            </a:r>
          </a:p>
          <a:p>
            <a:pPr>
              <a:defRPr sz="1300">
                <a:solidFill>
                  <a:srgbClr val="8B949E"/>
                </a:solidFill>
              </a:defRPr>
            </a:pPr>
            <a:r>
              <a:t>制造域(5表)：lots/orders/yield/spc/events</a:t>
            </a:r>
          </a:p>
          <a:p>
            <a:pPr>
              <a:defRPr sz="1300">
                <a:solidFill>
                  <a:srgbClr val="8B949E"/>
                </a:solidFill>
              </a:defRPr>
            </a:pPr>
            <a:r>
              <a:t>测控域(5表)：characterization/calibration/benchmarks</a:t>
            </a:r>
          </a:p>
          <a:p>
            <a:pPr>
              <a:defRPr sz="1300">
                <a:solidFill>
                  <a:srgbClr val="8B949E"/>
                </a:solidFill>
              </a:defRPr>
            </a:pPr>
            <a:r>
              <a:t>流水线域(6表)：runs/steps/params/measurements</a:t>
            </a:r>
          </a:p>
          <a:p>
            <a:pPr>
              <a:defRPr sz="800">
                <a:solidFill>
                  <a:srgbClr val="E6EDF3"/>
                </a:solidFill>
              </a:defRPr>
            </a:pP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跨域关联：设计→制造→测控全链路追溯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数据血缘：上游来源 + 下游去向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数据质量：自动检查 + 质量得分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AI 训练导出：一键导出训练数据集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05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</a:defRPr>
            </a:pPr>
            <a:r>
              <a:t>项目资料库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自定义文件夹（按团队/项目分类）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支持 11 种格式自动解析：</a:t>
            </a:r>
          </a:p>
          <a:p>
            <a:pPr lvl="1">
              <a:defRPr sz="1200">
                <a:solidFill>
                  <a:srgbClr val="8B949E"/>
                </a:solidFill>
              </a:defRPr>
            </a:pPr>
            <a:r>
              <a:t>  Word / PDF / PPT / Excel / CSV</a:t>
            </a:r>
          </a:p>
          <a:p>
            <a:pPr lvl="1">
              <a:defRPr sz="1200">
                <a:solidFill>
                  <a:srgbClr val="8B949E"/>
                </a:solidFill>
              </a:defRPr>
            </a:pPr>
            <a:r>
              <a:t>  Python / Jupyter / GDS / JSON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拖拽上传（文件 + 文件夹）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自动提取参数（GHz/nH/fF/nm…）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全环节输出文件自动保存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持久化索引（重启不丢失）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所有 Agent 均可调用查阅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10  关键技术指标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058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12 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覆盖全生命周期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2112" y="10058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3552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107+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注册工具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LLM Function Calling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0058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42+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API 端点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REST + SSE + 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576" y="10058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5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13 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开源项目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5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四大平台集成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8346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971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7 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474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LLM 提供商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一键热切换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2" y="28346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2971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947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3474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知识条目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21 份文档索引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28346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2783" y="2971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3 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3" y="3474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流水线模板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3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20/100/105 比特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28346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72015" y="2971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12 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5" y="3474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Web 页面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2015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暗色主题 SPA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46634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800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4220+ 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303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代码规模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6692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34 个 Python 模块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82112" y="46634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73552" y="4800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20+105 比特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3552" y="5303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芯片规格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3552" y="56692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真实设计参数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1344" y="46634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3" y="4800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11 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3" y="5303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文件格式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3" y="56692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自动解析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0576" y="4663440"/>
            <a:ext cx="2834640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72015" y="4800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13 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2015" y="5303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适配器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2015" y="56692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1564 行适配代码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8A6FF"/>
                </a:solidFill>
              </a:defRPr>
            </a:pPr>
            <a:r>
              <a:t>AetherQ 量智大脑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6EDF3"/>
                </a:solidFill>
              </a:defRPr>
            </a:pPr>
            <a:r>
              <a:t>量子科技自主科研 AI 中台 · 详细设计方案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B949E"/>
                </a:solidFill>
              </a:defRPr>
            </a:pPr>
            <a:r>
              <a:t>12 个 AI 科学家 Agent · 覆盖设计→仿真→制造→校准→测控→数据全链路</a:t>
            </a:r>
          </a:p>
          <a:p>
            <a:pPr algn="ctr">
              <a:defRPr sz="1500">
                <a:solidFill>
                  <a:srgbClr val="8B949E"/>
                </a:solidFill>
              </a:defRPr>
            </a:pPr>
            <a:r>
              <a:t>107+ 工具 · LLM Function Calling · 最多 20 轮自主调用</a:t>
            </a:r>
          </a:p>
          <a:p>
            <a:pPr algn="ctr">
              <a:defRPr sz="1500">
                <a:solidFill>
                  <a:srgbClr val="8B949E"/>
                </a:solidFill>
              </a:defRPr>
            </a:pPr>
            <a:r>
              <a:t>13 个开源项目集成 · Qiskit Metal / KQCircuits / CHIPMES / ARTIQ / Mitiq …</a:t>
            </a:r>
          </a:p>
          <a:p>
            <a:pPr algn="ctr">
              <a:defRPr sz="1500">
                <a:solidFill>
                  <a:srgbClr val="8B949E"/>
                </a:solidFill>
              </a:defRPr>
            </a:pPr>
            <a:r>
              <a:t>3 条流水线模板（20/100/105 比特）· 可视化 + 人工审批 + Word 报告</a:t>
            </a:r>
          </a:p>
          <a:p>
            <a:pPr algn="ctr">
              <a:defRPr sz="1500">
                <a:solidFill>
                  <a:srgbClr val="8B949E"/>
                </a:solidFill>
              </a:defRPr>
            </a:pPr>
            <a:r>
              <a:t>项目资料库 · 自定义文件夹 · 11 种格式自动解析 · 全环节文件保存</a:t>
            </a:r>
          </a:p>
          <a:p>
            <a:pPr algn="ctr">
              <a:defRPr sz="1500">
                <a:solidFill>
                  <a:srgbClr val="8B949E"/>
                </a:solidFill>
              </a:defRPr>
            </a:pPr>
            <a:r>
              <a:t>数据中台 · 4 域 20 表 · 跨域追溯 · 知识库 947 条 · AI 训练导出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