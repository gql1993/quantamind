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4" r:id="rId3"/>
  </p:sldMasterIdLst>
  <p:notesMasterIdLst>
    <p:notesMasterId r:id="rId33"/>
  </p:notesMasterIdLst>
  <p:sldIdLst>
    <p:sldId id="661" r:id="rId4"/>
    <p:sldId id="6027" r:id="rId5"/>
    <p:sldId id="5996" r:id="rId6"/>
    <p:sldId id="6028" r:id="rId7"/>
    <p:sldId id="6007" r:id="rId8"/>
    <p:sldId id="6009" r:id="rId9"/>
    <p:sldId id="6010" r:id="rId10"/>
    <p:sldId id="6008" r:id="rId11"/>
    <p:sldId id="6012" r:id="rId12"/>
    <p:sldId id="6013" r:id="rId13"/>
    <p:sldId id="6014" r:id="rId14"/>
    <p:sldId id="6011" r:id="rId15"/>
    <p:sldId id="6029" r:id="rId16"/>
    <p:sldId id="6017" r:id="rId17"/>
    <p:sldId id="6030" r:id="rId18"/>
    <p:sldId id="6015" r:id="rId19"/>
    <p:sldId id="6016" r:id="rId20"/>
    <p:sldId id="6031" r:id="rId21"/>
    <p:sldId id="6025" r:id="rId22"/>
    <p:sldId id="6026" r:id="rId23"/>
    <p:sldId id="6032" r:id="rId24"/>
    <p:sldId id="6033" r:id="rId25"/>
    <p:sldId id="6034" r:id="rId26"/>
    <p:sldId id="6035" r:id="rId27"/>
    <p:sldId id="6036" r:id="rId28"/>
    <p:sldId id="6038" r:id="rId29"/>
    <p:sldId id="6037" r:id="rId30"/>
    <p:sldId id="6039" r:id="rId31"/>
    <p:sldId id="258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10018-C166-4D56-847A-722F725DFD24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E549-E063-4842-944D-6C2FB771BFF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711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58706D-830D-4329-9661-163A3FBF6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288" y="766763"/>
            <a:ext cx="6819900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B65D35-9D76-4101-8035-BABF0F50DF9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134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288" y="766763"/>
            <a:ext cx="6819900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B65D35-9D76-4101-8035-BABF0F50DF9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75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288" y="766763"/>
            <a:ext cx="6819900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B65D35-9D76-4101-8035-BABF0F50DF9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116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288" y="766763"/>
            <a:ext cx="6819900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B65D35-9D76-4101-8035-BABF0F50DF9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757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288" y="766763"/>
            <a:ext cx="6819900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B65D35-9D76-4101-8035-BABF0F50DF9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260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288" y="766763"/>
            <a:ext cx="6819900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B65D35-9D76-4101-8035-BABF0F50DF9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939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1288" y="766763"/>
            <a:ext cx="6819900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B65D35-9D76-4101-8035-BABF0F50DF9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25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382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711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58706D-830D-4329-9661-163A3FBF63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3" y="1122368"/>
            <a:ext cx="9144000" cy="2387600"/>
          </a:xfrm>
          <a:prstGeom prst="rect">
            <a:avLst/>
          </a:prstGeom>
        </p:spPr>
        <p:txBody>
          <a:bodyPr lIns="75585" tIns="37793" rIns="75585" bIns="37793" anchor="b"/>
          <a:lstStyle>
            <a:lvl1pPr algn="ctr">
              <a:defRPr sz="66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3" y="3602039"/>
            <a:ext cx="9144000" cy="1655761"/>
          </a:xfrm>
          <a:prstGeom prst="rect">
            <a:avLst/>
          </a:prstGeom>
        </p:spPr>
        <p:txBody>
          <a:bodyPr lIns="75585" tIns="37793" rIns="75585" bIns="37793"/>
          <a:lstStyle>
            <a:lvl1pPr marL="0" indent="0" algn="ctr">
              <a:buNone/>
              <a:defRPr sz="2665"/>
            </a:lvl1pPr>
            <a:lvl2pPr marL="503555" indent="0" algn="ctr">
              <a:buNone/>
              <a:defRPr sz="2265"/>
            </a:lvl2pPr>
            <a:lvl3pPr marL="1007745" indent="0" algn="ctr">
              <a:buNone/>
              <a:defRPr sz="2000"/>
            </a:lvl3pPr>
            <a:lvl4pPr marL="1511300" indent="0" algn="ctr">
              <a:buNone/>
              <a:defRPr sz="1735"/>
            </a:lvl4pPr>
            <a:lvl5pPr marL="2016125" indent="0" algn="ctr">
              <a:buNone/>
              <a:defRPr sz="1735"/>
            </a:lvl5pPr>
            <a:lvl6pPr marL="2519680" indent="0" algn="ctr">
              <a:buNone/>
              <a:defRPr sz="1735"/>
            </a:lvl6pPr>
            <a:lvl7pPr marL="3023235" indent="0" algn="ctr">
              <a:buNone/>
              <a:defRPr sz="1735"/>
            </a:lvl7pPr>
            <a:lvl8pPr marL="3527425" indent="0" algn="ctr">
              <a:buNone/>
              <a:defRPr sz="1735"/>
            </a:lvl8pPr>
            <a:lvl9pPr marL="4030980" indent="0" algn="ctr">
              <a:buNone/>
              <a:defRPr sz="1735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07517" y="776677"/>
            <a:ext cx="12456960" cy="6081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85" tIns="37793" rIns="75585" bIns="37793" rtlCol="0" anchor="ctr"/>
          <a:lstStyle/>
          <a:p>
            <a:pPr algn="ctr"/>
            <a:endParaRPr lang="zh-CN" altLang="en-US" sz="13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3" y="365125"/>
            <a:ext cx="10515600" cy="1325563"/>
          </a:xfrm>
          <a:prstGeom prst="rect">
            <a:avLst/>
          </a:prstGeom>
        </p:spPr>
        <p:txBody>
          <a:bodyPr lIns="75585" tIns="37793" rIns="75585" bIns="37793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3" y="1825627"/>
            <a:ext cx="10515600" cy="4351339"/>
          </a:xfrm>
          <a:prstGeom prst="rect">
            <a:avLst/>
          </a:prstGeom>
        </p:spPr>
        <p:txBody>
          <a:bodyPr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  <a:prstGeom prst="rect">
            <a:avLst/>
          </a:prstGeom>
        </p:spPr>
        <p:txBody>
          <a:bodyPr lIns="75585" tIns="37793" rIns="75585" bIns="37793" anchor="b"/>
          <a:lstStyle>
            <a:lvl1pPr>
              <a:defRPr sz="66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8"/>
            <a:ext cx="10515600" cy="1500187"/>
          </a:xfrm>
          <a:prstGeom prst="rect">
            <a:avLst/>
          </a:prstGeom>
        </p:spPr>
        <p:txBody>
          <a:bodyPr lIns="75585" tIns="37793" rIns="75585" bIns="37793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503555" indent="0">
              <a:buNone/>
              <a:defRPr sz="226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1130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6pPr>
            <a:lvl7pPr marL="3023235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7pPr>
            <a:lvl8pPr marL="3527425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8pPr>
            <a:lvl9pPr marL="4030980" indent="0">
              <a:buNone/>
              <a:defRPr sz="17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3" y="365125"/>
            <a:ext cx="10515600" cy="1325563"/>
          </a:xfrm>
          <a:prstGeom prst="rect">
            <a:avLst/>
          </a:prstGeom>
        </p:spPr>
        <p:txBody>
          <a:bodyPr lIns="75585" tIns="37793" rIns="75585" bIns="37793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7"/>
            <a:ext cx="5181600" cy="4351339"/>
          </a:xfrm>
          <a:prstGeom prst="rect">
            <a:avLst/>
          </a:prstGeom>
        </p:spPr>
        <p:txBody>
          <a:bodyPr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7"/>
            <a:ext cx="5181600" cy="4351339"/>
          </a:xfrm>
          <a:prstGeom prst="rect">
            <a:avLst/>
          </a:prstGeom>
        </p:spPr>
        <p:txBody>
          <a:bodyPr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lIns="75585" tIns="37793" rIns="75585" bIns="37793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91" y="1681163"/>
            <a:ext cx="5157785" cy="823912"/>
          </a:xfrm>
          <a:prstGeom prst="rect">
            <a:avLst/>
          </a:prstGeom>
        </p:spPr>
        <p:txBody>
          <a:bodyPr lIns="75585" tIns="37793" rIns="75585" bIns="37793" anchor="b"/>
          <a:lstStyle>
            <a:lvl1pPr marL="0" indent="0">
              <a:buNone/>
              <a:defRPr sz="2665" b="1"/>
            </a:lvl1pPr>
            <a:lvl2pPr marL="503555" indent="0">
              <a:buNone/>
              <a:defRPr sz="2265" b="1"/>
            </a:lvl2pPr>
            <a:lvl3pPr marL="1007745" indent="0">
              <a:buNone/>
              <a:defRPr sz="2000" b="1"/>
            </a:lvl3pPr>
            <a:lvl4pPr marL="1511300" indent="0">
              <a:buNone/>
              <a:defRPr sz="1735" b="1"/>
            </a:lvl4pPr>
            <a:lvl5pPr marL="2016125" indent="0">
              <a:buNone/>
              <a:defRPr sz="1735" b="1"/>
            </a:lvl5pPr>
            <a:lvl6pPr marL="2519680" indent="0">
              <a:buNone/>
              <a:defRPr sz="1735" b="1"/>
            </a:lvl6pPr>
            <a:lvl7pPr marL="3023235" indent="0">
              <a:buNone/>
              <a:defRPr sz="1735" b="1"/>
            </a:lvl7pPr>
            <a:lvl8pPr marL="3527425" indent="0">
              <a:buNone/>
              <a:defRPr sz="1735" b="1"/>
            </a:lvl8pPr>
            <a:lvl9pPr marL="4030980" indent="0">
              <a:buNone/>
              <a:defRPr sz="1735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91" y="2505076"/>
            <a:ext cx="5157785" cy="3684588"/>
          </a:xfrm>
          <a:prstGeom prst="rect">
            <a:avLst/>
          </a:prstGeom>
        </p:spPr>
        <p:txBody>
          <a:bodyPr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lIns="75585" tIns="37793" rIns="75585" bIns="37793" anchor="b"/>
          <a:lstStyle>
            <a:lvl1pPr marL="0" indent="0">
              <a:buNone/>
              <a:defRPr sz="2665" b="1"/>
            </a:lvl1pPr>
            <a:lvl2pPr marL="503555" indent="0">
              <a:buNone/>
              <a:defRPr sz="2265" b="1"/>
            </a:lvl2pPr>
            <a:lvl3pPr marL="1007745" indent="0">
              <a:buNone/>
              <a:defRPr sz="2000" b="1"/>
            </a:lvl3pPr>
            <a:lvl4pPr marL="1511300" indent="0">
              <a:buNone/>
              <a:defRPr sz="1735" b="1"/>
            </a:lvl4pPr>
            <a:lvl5pPr marL="2016125" indent="0">
              <a:buNone/>
              <a:defRPr sz="1735" b="1"/>
            </a:lvl5pPr>
            <a:lvl6pPr marL="2519680" indent="0">
              <a:buNone/>
              <a:defRPr sz="1735" b="1"/>
            </a:lvl6pPr>
            <a:lvl7pPr marL="3023235" indent="0">
              <a:buNone/>
              <a:defRPr sz="1735" b="1"/>
            </a:lvl7pPr>
            <a:lvl8pPr marL="3527425" indent="0">
              <a:buNone/>
              <a:defRPr sz="1735" b="1"/>
            </a:lvl8pPr>
            <a:lvl9pPr marL="4030980" indent="0">
              <a:buNone/>
              <a:defRPr sz="1735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8" cy="3684588"/>
          </a:xfrm>
          <a:prstGeom prst="rect">
            <a:avLst/>
          </a:prstGeom>
        </p:spPr>
        <p:txBody>
          <a:bodyPr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3" y="365125"/>
            <a:ext cx="10515600" cy="1325563"/>
          </a:xfrm>
          <a:prstGeom prst="rect">
            <a:avLst/>
          </a:prstGeom>
        </p:spPr>
        <p:txBody>
          <a:bodyPr lIns="75585" tIns="37793" rIns="75585" bIns="37793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75585" tIns="37793" rIns="75585" bIns="37793" anchor="b"/>
          <a:lstStyle>
            <a:lvl1pPr>
              <a:defRPr sz="34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 lIns="75585" tIns="37793" rIns="75585" bIns="37793"/>
          <a:lstStyle>
            <a:lvl1pPr>
              <a:defRPr sz="3465"/>
            </a:lvl1pPr>
            <a:lvl2pPr>
              <a:defRPr sz="3065"/>
            </a:lvl2pPr>
            <a:lvl3pPr>
              <a:defRPr sz="2665"/>
            </a:lvl3pPr>
            <a:lvl4pPr>
              <a:defRPr sz="2265"/>
            </a:lvl4pPr>
            <a:lvl5pPr>
              <a:defRPr sz="2265"/>
            </a:lvl5pPr>
            <a:lvl6pPr>
              <a:defRPr sz="2265"/>
            </a:lvl6pPr>
            <a:lvl7pPr>
              <a:defRPr sz="2265"/>
            </a:lvl7pPr>
            <a:lvl8pPr>
              <a:defRPr sz="2265"/>
            </a:lvl8pPr>
            <a:lvl9pPr>
              <a:defRPr sz="226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4"/>
            <a:ext cx="3932237" cy="3811588"/>
          </a:xfrm>
          <a:prstGeom prst="rect">
            <a:avLst/>
          </a:prstGeom>
        </p:spPr>
        <p:txBody>
          <a:bodyPr lIns="75585" tIns="37793" rIns="75585" bIns="37793"/>
          <a:lstStyle>
            <a:lvl1pPr marL="0" indent="0">
              <a:buNone/>
              <a:defRPr sz="1735"/>
            </a:lvl1pPr>
            <a:lvl2pPr marL="503555" indent="0">
              <a:buNone/>
              <a:defRPr sz="1600"/>
            </a:lvl2pPr>
            <a:lvl3pPr marL="1007745" indent="0">
              <a:buNone/>
              <a:defRPr sz="1335"/>
            </a:lvl3pPr>
            <a:lvl4pPr marL="1511300" indent="0">
              <a:buNone/>
              <a:defRPr sz="1065"/>
            </a:lvl4pPr>
            <a:lvl5pPr marL="2016125" indent="0">
              <a:buNone/>
              <a:defRPr sz="1065"/>
            </a:lvl5pPr>
            <a:lvl6pPr marL="2519680" indent="0">
              <a:buNone/>
              <a:defRPr sz="1065"/>
            </a:lvl6pPr>
            <a:lvl7pPr marL="3023235" indent="0">
              <a:buNone/>
              <a:defRPr sz="1065"/>
            </a:lvl7pPr>
            <a:lvl8pPr marL="3527425" indent="0">
              <a:buNone/>
              <a:defRPr sz="1065"/>
            </a:lvl8pPr>
            <a:lvl9pPr marL="4030980" indent="0">
              <a:buNone/>
              <a:defRPr sz="106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75585" tIns="37793" rIns="75585" bIns="37793" anchor="b"/>
          <a:lstStyle>
            <a:lvl1pPr>
              <a:defRPr sz="34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 lIns="75585" tIns="37793" rIns="75585" bIns="37793"/>
          <a:lstStyle>
            <a:lvl1pPr marL="0" indent="0">
              <a:buNone/>
              <a:defRPr sz="3465"/>
            </a:lvl1pPr>
            <a:lvl2pPr marL="503555" indent="0">
              <a:buNone/>
              <a:defRPr sz="3065"/>
            </a:lvl2pPr>
            <a:lvl3pPr marL="1007745" indent="0">
              <a:buNone/>
              <a:defRPr sz="2665"/>
            </a:lvl3pPr>
            <a:lvl4pPr marL="1511300" indent="0">
              <a:buNone/>
              <a:defRPr sz="2265"/>
            </a:lvl4pPr>
            <a:lvl5pPr marL="2016125" indent="0">
              <a:buNone/>
              <a:defRPr sz="2265"/>
            </a:lvl5pPr>
            <a:lvl6pPr marL="2519680" indent="0">
              <a:buNone/>
              <a:defRPr sz="2265"/>
            </a:lvl6pPr>
            <a:lvl7pPr marL="3023235" indent="0">
              <a:buNone/>
              <a:defRPr sz="2265"/>
            </a:lvl7pPr>
            <a:lvl8pPr marL="3527425" indent="0">
              <a:buNone/>
              <a:defRPr sz="2265"/>
            </a:lvl8pPr>
            <a:lvl9pPr marL="4030980" indent="0">
              <a:buNone/>
              <a:defRPr sz="22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4"/>
            <a:ext cx="3932237" cy="3811588"/>
          </a:xfrm>
          <a:prstGeom prst="rect">
            <a:avLst/>
          </a:prstGeom>
        </p:spPr>
        <p:txBody>
          <a:bodyPr lIns="75585" tIns="37793" rIns="75585" bIns="37793"/>
          <a:lstStyle>
            <a:lvl1pPr marL="0" indent="0">
              <a:buNone/>
              <a:defRPr sz="1735"/>
            </a:lvl1pPr>
            <a:lvl2pPr marL="503555" indent="0">
              <a:buNone/>
              <a:defRPr sz="1600"/>
            </a:lvl2pPr>
            <a:lvl3pPr marL="1007745" indent="0">
              <a:buNone/>
              <a:defRPr sz="1335"/>
            </a:lvl3pPr>
            <a:lvl4pPr marL="1511300" indent="0">
              <a:buNone/>
              <a:defRPr sz="1065"/>
            </a:lvl4pPr>
            <a:lvl5pPr marL="2016125" indent="0">
              <a:buNone/>
              <a:defRPr sz="1065"/>
            </a:lvl5pPr>
            <a:lvl6pPr marL="2519680" indent="0">
              <a:buNone/>
              <a:defRPr sz="1065"/>
            </a:lvl6pPr>
            <a:lvl7pPr marL="3023235" indent="0">
              <a:buNone/>
              <a:defRPr sz="1065"/>
            </a:lvl7pPr>
            <a:lvl8pPr marL="3527425" indent="0">
              <a:buNone/>
              <a:defRPr sz="1065"/>
            </a:lvl8pPr>
            <a:lvl9pPr marL="4030980" indent="0">
              <a:buNone/>
              <a:defRPr sz="106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3" y="365125"/>
            <a:ext cx="10515600" cy="1325563"/>
          </a:xfrm>
          <a:prstGeom prst="rect">
            <a:avLst/>
          </a:prstGeom>
        </p:spPr>
        <p:txBody>
          <a:bodyPr lIns="75585" tIns="37793" rIns="75585" bIns="37793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1825627"/>
            <a:ext cx="10515600" cy="4351339"/>
          </a:xfrm>
          <a:prstGeom prst="rect">
            <a:avLst/>
          </a:prstGeom>
        </p:spPr>
        <p:txBody>
          <a:bodyPr vert="eaVert"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4"/>
            <a:ext cx="2628900" cy="5811839"/>
          </a:xfrm>
          <a:prstGeom prst="rect">
            <a:avLst/>
          </a:prstGeom>
        </p:spPr>
        <p:txBody>
          <a:bodyPr vert="eaVert" lIns="75585" tIns="37793" rIns="75585" bIns="37793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4"/>
            <a:ext cx="7734299" cy="5811839"/>
          </a:xfrm>
          <a:prstGeom prst="rect">
            <a:avLst/>
          </a:prstGeom>
        </p:spPr>
        <p:txBody>
          <a:bodyPr vert="eaVert"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4" y="6356353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3" y="6356353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485" y="1122045"/>
            <a:ext cx="9143040" cy="2387329"/>
          </a:xfrm>
          <a:prstGeom prst="rect">
            <a:avLst/>
          </a:prstGeom>
        </p:spPr>
        <p:txBody>
          <a:bodyPr lIns="75585" tIns="37793" rIns="75585" bIns="37793" anchor="b"/>
          <a:lstStyle>
            <a:lvl1pPr algn="ctr">
              <a:defRPr sz="66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485" y="3601693"/>
            <a:ext cx="9143040" cy="1656805"/>
          </a:xfrm>
          <a:prstGeom prst="rect">
            <a:avLst/>
          </a:prstGeom>
        </p:spPr>
        <p:txBody>
          <a:bodyPr lIns="75585" tIns="37793" rIns="75585" bIns="37793"/>
          <a:lstStyle>
            <a:lvl1pPr marL="0" indent="0" algn="ctr">
              <a:buNone/>
              <a:defRPr sz="2665"/>
            </a:lvl1pPr>
            <a:lvl2pPr marL="503555" indent="0" algn="ctr">
              <a:buNone/>
              <a:defRPr sz="2265"/>
            </a:lvl2pPr>
            <a:lvl3pPr marL="1007745" indent="0" algn="ctr">
              <a:buNone/>
              <a:defRPr sz="2000"/>
            </a:lvl3pPr>
            <a:lvl4pPr marL="1511300" indent="0" algn="ctr">
              <a:buNone/>
              <a:defRPr sz="1735"/>
            </a:lvl4pPr>
            <a:lvl5pPr marL="2016125" indent="0" algn="ctr">
              <a:buNone/>
              <a:defRPr sz="1735"/>
            </a:lvl5pPr>
            <a:lvl6pPr marL="2519680" indent="0" algn="ctr">
              <a:buNone/>
              <a:defRPr sz="1735"/>
            </a:lvl6pPr>
            <a:lvl7pPr marL="3023235" indent="0" algn="ctr">
              <a:buNone/>
              <a:defRPr sz="1735"/>
            </a:lvl7pPr>
            <a:lvl8pPr marL="3527425" indent="0" algn="ctr">
              <a:buNone/>
              <a:defRPr sz="1735"/>
            </a:lvl8pPr>
            <a:lvl9pPr marL="4030980" indent="0" algn="ctr">
              <a:buNone/>
              <a:defRPr sz="1735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047" y="6356660"/>
            <a:ext cx="2741760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7761" y="6356660"/>
            <a:ext cx="4116480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29585" y="6506671"/>
            <a:ext cx="474729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3CC64696-B6D4-4576-A30C-C46B99DA50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044" y="364472"/>
            <a:ext cx="10513920" cy="1325763"/>
          </a:xfrm>
          <a:prstGeom prst="rect">
            <a:avLst/>
          </a:prstGeom>
        </p:spPr>
        <p:txBody>
          <a:bodyPr lIns="75585" tIns="37793" rIns="75585" bIns="37793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9044" y="1825513"/>
            <a:ext cx="10513920" cy="4351304"/>
          </a:xfrm>
          <a:prstGeom prst="rect">
            <a:avLst/>
          </a:prstGeom>
        </p:spPr>
        <p:txBody>
          <a:bodyPr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047" y="6356660"/>
            <a:ext cx="2741760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7761" y="6356660"/>
            <a:ext cx="4116480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078453" y="6000884"/>
            <a:ext cx="474729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3CC64696-B6D4-4576-A30C-C46B99DA508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5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85" tIns="37793" rIns="75585" bIns="37793" rtlCol="0" anchor="ctr"/>
          <a:lstStyle/>
          <a:p>
            <a:pPr algn="ctr"/>
            <a:endParaRPr lang="zh-CN" altLang="en-US" sz="13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309" y="195304"/>
            <a:ext cx="2464140" cy="31788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423545" y="725748"/>
            <a:ext cx="1137294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755492" y="6377215"/>
            <a:ext cx="3278175" cy="231140"/>
          </a:xfrm>
          <a:prstGeom prst="rect">
            <a:avLst/>
          </a:prstGeom>
          <a:noFill/>
        </p:spPr>
        <p:txBody>
          <a:bodyPr lIns="63096" tIns="31549" rIns="63096" bIns="31549"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4C7A706-D965-4090-8184-882E6F3FBC94}" type="slidenum">
              <a:rPr lang="en-US" altLang="zh-CN" sz="1100" smtClean="0">
                <a:latin typeface="Arial" panose="020B0604020202020204" pitchFamily="34" charset="0"/>
                <a:ea typeface="楷体_GB2312" pitchFamily="49" charset="-122"/>
              </a:rPr>
              <a:t>‹#›</a:t>
            </a:fld>
            <a:r>
              <a:rPr lang="en-US" altLang="zh-CN" sz="1100" dirty="0">
                <a:latin typeface="Arial" panose="020B0604020202020204" pitchFamily="34" charset="0"/>
                <a:ea typeface="楷体_GB2312" pitchFamily="49" charset="-122"/>
              </a:rPr>
              <a:t>/102</a:t>
            </a:r>
            <a:endParaRPr lang="zh-CN" altLang="en-US" sz="110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" y="1"/>
            <a:ext cx="12192001" cy="837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85" tIns="37793" rIns="75585" bIns="37793" rtlCol="0" anchor="ctr"/>
          <a:lstStyle/>
          <a:p>
            <a:pPr algn="ctr"/>
            <a:endParaRPr lang="zh-CN" altLang="en-US" sz="1300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23545" y="725748"/>
            <a:ext cx="1137294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309" y="195304"/>
            <a:ext cx="2464140" cy="317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7" y="6356360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5" y="6356360"/>
            <a:ext cx="4114800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7" y="6356360"/>
            <a:ext cx="2743201" cy="365125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A6F68E66-2D7B-46EE-A45B-944EE6D475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044" y="364472"/>
            <a:ext cx="10513920" cy="1325763"/>
          </a:xfrm>
          <a:prstGeom prst="rect">
            <a:avLst/>
          </a:prstGeom>
        </p:spPr>
        <p:txBody>
          <a:bodyPr lIns="75585" tIns="37793" rIns="75585" bIns="37793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9044" y="1825513"/>
            <a:ext cx="10513920" cy="4351304"/>
          </a:xfrm>
          <a:prstGeom prst="rect">
            <a:avLst/>
          </a:prstGeom>
        </p:spPr>
        <p:txBody>
          <a:bodyPr lIns="75585" tIns="37793" rIns="75585" bIns="37793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047" y="6356660"/>
            <a:ext cx="2741760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7761" y="6356660"/>
            <a:ext cx="4116480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078453" y="6000884"/>
            <a:ext cx="474729" cy="364467"/>
          </a:xfrm>
          <a:prstGeom prst="rect">
            <a:avLst/>
          </a:prstGeom>
        </p:spPr>
        <p:txBody>
          <a:bodyPr lIns="75585" tIns="37793" rIns="75585" bIns="37793"/>
          <a:lstStyle/>
          <a:p>
            <a:fld id="{3CC64696-B6D4-4576-A30C-C46B99DA508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5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85" tIns="37793" rIns="75585" bIns="37793" rtlCol="0" anchor="ctr"/>
          <a:lstStyle/>
          <a:p>
            <a:pPr algn="ctr"/>
            <a:endParaRPr lang="zh-CN" altLang="en-US" sz="13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309" y="195304"/>
            <a:ext cx="2464140" cy="31788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423545" y="725748"/>
            <a:ext cx="1137294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755492" y="6377215"/>
            <a:ext cx="3278175" cy="231140"/>
          </a:xfrm>
          <a:prstGeom prst="rect">
            <a:avLst/>
          </a:prstGeom>
          <a:noFill/>
        </p:spPr>
        <p:txBody>
          <a:bodyPr lIns="63096" tIns="31549" rIns="63096" bIns="31549"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4C7A706-D965-4090-8184-882E6F3FBC94}" type="slidenum">
              <a:rPr lang="en-US" altLang="zh-CN" sz="1100" smtClean="0">
                <a:latin typeface="Arial" panose="020B0604020202020204" pitchFamily="34" charset="0"/>
                <a:ea typeface="楷体_GB2312" pitchFamily="49" charset="-122"/>
              </a:rPr>
              <a:t>‹#›</a:t>
            </a:fld>
            <a:r>
              <a:rPr lang="en-US" altLang="zh-CN" sz="1100" dirty="0">
                <a:latin typeface="Arial" panose="020B0604020202020204" pitchFamily="34" charset="0"/>
                <a:ea typeface="楷体_GB2312" pitchFamily="49" charset="-122"/>
              </a:rPr>
              <a:t>/102</a:t>
            </a:r>
            <a:endParaRPr lang="zh-CN" altLang="en-US" sz="110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" y="415"/>
            <a:ext cx="12190924" cy="68571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09" y="300636"/>
            <a:ext cx="2320899" cy="2994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6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265" kern="1200">
          <a:solidFill>
            <a:schemeClr val="tx1"/>
          </a:solidFill>
          <a:latin typeface="+mn-lt"/>
          <a:ea typeface="+mn-ea"/>
          <a:cs typeface="+mn-cs"/>
        </a:defRPr>
      </a:lvl3pPr>
      <a:lvl4pPr marL="176339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6758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14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52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07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30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23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2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098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" y="415"/>
            <a:ext cx="12190924" cy="6857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6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265" kern="1200">
          <a:solidFill>
            <a:schemeClr val="tx1"/>
          </a:solidFill>
          <a:latin typeface="+mn-lt"/>
          <a:ea typeface="+mn-ea"/>
          <a:cs typeface="+mn-cs"/>
        </a:defRPr>
      </a:lvl3pPr>
      <a:lvl4pPr marL="176339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6758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14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52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07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30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23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2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098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" y="415"/>
            <a:ext cx="12190924" cy="68571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09" y="300637"/>
            <a:ext cx="2320899" cy="2994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ftr="0" dt="0"/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6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265" kern="1200">
          <a:solidFill>
            <a:schemeClr val="tx1"/>
          </a:solidFill>
          <a:latin typeface="+mn-lt"/>
          <a:ea typeface="+mn-ea"/>
          <a:cs typeface="+mn-cs"/>
        </a:defRPr>
      </a:lvl3pPr>
      <a:lvl4pPr marL="176339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6758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14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520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075" indent="-252095" algn="l" defTabSz="1007745" rtl="0" eaLnBrk="1" latinLnBrk="0" hangingPunct="1">
        <a:lnSpc>
          <a:spcPct val="90000"/>
        </a:lnSpc>
        <a:spcBef>
          <a:spcPct val="11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30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23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2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098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blog.csdn.net/weixin_42312623/article/details/106186293" TargetMode="Externa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090797" y="2492896"/>
            <a:ext cx="9793087" cy="9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585" tIns="59516" rIns="75585" bIns="3779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defTabSz="671195" eaLnBrk="1" fontAlgn="ctr">
              <a:lnSpc>
                <a:spcPct val="130000"/>
              </a:lnSpc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芯片</a:t>
            </a: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仿真简易教程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97327" y="5372828"/>
            <a:ext cx="1980030" cy="453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67119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二〇二三年四月</a:t>
            </a:r>
          </a:p>
        </p:txBody>
      </p:sp>
      <p:sp>
        <p:nvSpPr>
          <p:cNvPr id="4" name="TextBox 11"/>
          <p:cNvSpPr txBox="1"/>
          <p:nvPr/>
        </p:nvSpPr>
        <p:spPr>
          <a:xfrm>
            <a:off x="1355015" y="4797152"/>
            <a:ext cx="9144000" cy="491631"/>
          </a:xfrm>
          <a:prstGeom prst="rect">
            <a:avLst/>
          </a:prstGeom>
          <a:noFill/>
        </p:spPr>
        <p:txBody>
          <a:bodyPr wrap="square" lIns="75585" tIns="37793" rIns="75585" bIns="37793">
            <a:spAutoFit/>
          </a:bodyPr>
          <a:lstStyle/>
          <a:p>
            <a:pPr marL="0" marR="0" lvl="0" indent="0" algn="ctr" defTabSz="67119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张祥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7951" y="103651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仅团队内部交流使用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925988" y="2058349"/>
            <a:ext cx="6498383" cy="12263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5" b="1" i="0" u="none" strike="noStrike" kern="1200" cap="none" spc="50" normalizeH="0" baseline="0" noProof="0" dirty="0">
              <a:ln w="11430"/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" y="6183208"/>
            <a:ext cx="12192176" cy="696978"/>
          </a:xfrm>
          <a:prstGeom prst="rect">
            <a:avLst/>
          </a:prstGeom>
        </p:spPr>
      </p:pic>
      <p:pic>
        <p:nvPicPr>
          <p:cNvPr id="59" name="Picture 3" descr="G:\刘俊霞\图片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16" y="5401641"/>
            <a:ext cx="3186651" cy="98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34389" y="764704"/>
            <a:ext cx="0" cy="611548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324840" y="976257"/>
            <a:ext cx="2875431" cy="1022876"/>
          </a:xfrm>
          <a:prstGeom prst="roundRect">
            <a:avLst>
              <a:gd name="adj" fmla="val 42181"/>
            </a:avLst>
          </a:prstGeom>
          <a:solidFill>
            <a:srgbClr val="FFFFFF"/>
          </a:solidFill>
          <a:ln w="19050" cap="rnd">
            <a:noFill/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1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kumimoji="0" lang="en-US" altLang="zh-CN" sz="481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808126" y="900652"/>
            <a:ext cx="6123310" cy="498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芯片参数</a:t>
            </a:r>
            <a:endParaRPr kumimoji="0" lang="en-US" altLang="zh-CN" sz="3605" b="1" i="0" u="none" strike="noStrike" kern="1200" cap="none" spc="50" normalizeH="0" baseline="0" noProof="0" dirty="0">
              <a:ln w="11430"/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谐振腔频率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比特频率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电容值仿真</a:t>
            </a:r>
            <a:endParaRPr lang="en-US" altLang="zh-CN" sz="3605" b="1" spc="50" dirty="0">
              <a:ln w="1143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互感值仿真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60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芯片参数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745791" y="1410690"/>
            <a:ext cx="2990850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谐振腔频率</a:t>
            </a:r>
            <a:r>
              <a:rPr lang="en-US" altLang="zh-CN" dirty="0">
                <a:solidFill>
                  <a:srgbClr val="FF0000"/>
                </a:solidFill>
              </a:rPr>
              <a:t>(4-8GHz)</a:t>
            </a:r>
            <a:endParaRPr lang="en-US" altLang="zh-C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比特电容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(60-120fF)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比特频率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(4-8GHz)</a:t>
            </a:r>
            <a:endParaRPr lang="en-US" altLang="zh-C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比特</a:t>
            </a:r>
            <a:r>
              <a:rPr lang="en-US" altLang="zh-CN" dirty="0"/>
              <a:t>-XY</a:t>
            </a:r>
            <a:r>
              <a:rPr lang="zh-CN" altLang="en-US" dirty="0"/>
              <a:t>线耦合强度</a:t>
            </a:r>
            <a:r>
              <a:rPr lang="en-US" altLang="zh-CN" dirty="0">
                <a:solidFill>
                  <a:srgbClr val="FF0000"/>
                </a:solidFill>
              </a:rPr>
              <a:t>(50fF)</a:t>
            </a:r>
            <a:endParaRPr lang="en-US" altLang="zh-C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比特</a:t>
            </a:r>
            <a:r>
              <a:rPr lang="en-US" altLang="zh-CN" dirty="0"/>
              <a:t>-Z</a:t>
            </a:r>
            <a:r>
              <a:rPr lang="zh-CN" altLang="en-US" dirty="0"/>
              <a:t>线耦合强度</a:t>
            </a:r>
            <a:endParaRPr lang="en-US" altLang="zh-C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比特</a:t>
            </a:r>
            <a:r>
              <a:rPr lang="en-US" altLang="zh-CN" dirty="0"/>
              <a:t>-</a:t>
            </a:r>
            <a:r>
              <a:rPr lang="zh-CN" altLang="en-US" dirty="0"/>
              <a:t>比特耦合电容</a:t>
            </a:r>
            <a:endParaRPr lang="en-US" altLang="zh-C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谐振腔</a:t>
            </a:r>
            <a:r>
              <a:rPr lang="en-US" altLang="zh-CN" dirty="0"/>
              <a:t>-</a:t>
            </a:r>
            <a:r>
              <a:rPr lang="zh-CN" altLang="en-US" dirty="0"/>
              <a:t>总线耦合强度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62911" y="9175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仿真内容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37" y="1286925"/>
            <a:ext cx="3348354" cy="49589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4240" y="91759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量子芯片典型参数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62911" y="37217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相关软件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857551" y="4091085"/>
            <a:ext cx="55386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AutoCAD   </a:t>
            </a:r>
            <a:r>
              <a:rPr lang="zh-CN" altLang="en-US" dirty="0"/>
              <a:t>制图软件（输出格式为</a:t>
            </a:r>
            <a:r>
              <a:rPr lang="en-US" altLang="zh-CN" dirty="0"/>
              <a:t>.</a:t>
            </a:r>
            <a:r>
              <a:rPr lang="en-US" altLang="zh-CN" dirty="0" err="1"/>
              <a:t>dxf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L-edit  </a:t>
            </a:r>
            <a:r>
              <a:rPr lang="zh-CN" altLang="en-US" dirty="0"/>
              <a:t>制图软件 （输出格式为</a:t>
            </a:r>
            <a:r>
              <a:rPr lang="en-US" altLang="zh-CN" dirty="0"/>
              <a:t>.</a:t>
            </a:r>
            <a:r>
              <a:rPr lang="en-US" altLang="zh-CN" dirty="0" err="1"/>
              <a:t>gdsII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linkCAD</a:t>
            </a:r>
            <a:r>
              <a:rPr lang="en-US" altLang="zh-CN" dirty="0"/>
              <a:t>    </a:t>
            </a:r>
            <a:r>
              <a:rPr lang="en-US" altLang="zh-CN" dirty="0" err="1"/>
              <a:t>dxf</a:t>
            </a:r>
            <a:r>
              <a:rPr lang="zh-CN" altLang="en-US" dirty="0"/>
              <a:t>与</a:t>
            </a:r>
            <a:r>
              <a:rPr lang="en-US" altLang="zh-CN" dirty="0" err="1"/>
              <a:t>gdsII</a:t>
            </a:r>
            <a:r>
              <a:rPr lang="zh-CN" altLang="en-US" dirty="0"/>
              <a:t>格式转换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Ansys</a:t>
            </a:r>
            <a:r>
              <a:rPr lang="zh-CN" altLang="en-US" dirty="0"/>
              <a:t>（</a:t>
            </a:r>
            <a:r>
              <a:rPr lang="en-US" altLang="zh-CN" dirty="0"/>
              <a:t>HFSS</a:t>
            </a:r>
            <a:r>
              <a:rPr lang="zh-CN" altLang="en-US" dirty="0"/>
              <a:t>为其中一个仿真模块）</a:t>
            </a:r>
            <a:r>
              <a:rPr lang="en-US" altLang="zh-CN" dirty="0"/>
              <a:t> </a:t>
            </a:r>
            <a:r>
              <a:rPr lang="zh-CN" altLang="en-US" dirty="0"/>
              <a:t>电磁仿真软件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925988" y="2058349"/>
            <a:ext cx="6498383" cy="12263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5" b="1" i="0" u="none" strike="noStrike" kern="1200" cap="none" spc="50" normalizeH="0" baseline="0" noProof="0" dirty="0">
              <a:ln w="11430"/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" y="6183208"/>
            <a:ext cx="12192176" cy="696978"/>
          </a:xfrm>
          <a:prstGeom prst="rect">
            <a:avLst/>
          </a:prstGeom>
        </p:spPr>
      </p:pic>
      <p:pic>
        <p:nvPicPr>
          <p:cNvPr id="59" name="Picture 3" descr="G:\刘俊霞\图片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16" y="5401641"/>
            <a:ext cx="3186651" cy="98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34389" y="764704"/>
            <a:ext cx="0" cy="611548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324840" y="976257"/>
            <a:ext cx="2875431" cy="1022876"/>
          </a:xfrm>
          <a:prstGeom prst="roundRect">
            <a:avLst>
              <a:gd name="adj" fmla="val 42181"/>
            </a:avLst>
          </a:prstGeom>
          <a:solidFill>
            <a:srgbClr val="FFFFFF"/>
          </a:solidFill>
          <a:ln w="19050" cap="rnd">
            <a:noFill/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1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kumimoji="0" lang="en-US" altLang="zh-CN" sz="481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808126" y="900652"/>
            <a:ext cx="6123310" cy="498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芯片参数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谐振腔频率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比特频率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电容值仿真</a:t>
            </a:r>
            <a:endParaRPr lang="en-US" altLang="zh-CN" sz="3605" b="1" spc="50" dirty="0">
              <a:ln w="1143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互感值仿真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6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71" y="883919"/>
            <a:ext cx="3469827" cy="347472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图形处理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770" y="883919"/>
            <a:ext cx="2311839" cy="347472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7371" y="5050751"/>
            <a:ext cx="5448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新建</a:t>
            </a:r>
            <a:r>
              <a:rPr lang="en-US" altLang="zh-CN" dirty="0" err="1"/>
              <a:t>dxf</a:t>
            </a:r>
            <a:r>
              <a:rPr lang="zh-CN" altLang="en-US" dirty="0"/>
              <a:t>文件，从版图中截取部分图形并设置边框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利用</a:t>
            </a:r>
            <a:r>
              <a:rPr lang="en-US" altLang="zh-CN" dirty="0" err="1"/>
              <a:t>linkcad</a:t>
            </a:r>
            <a:r>
              <a:rPr lang="zh-CN" altLang="en-US" dirty="0"/>
              <a:t>将</a:t>
            </a:r>
            <a:r>
              <a:rPr lang="en-US" altLang="zh-CN" dirty="0" err="1"/>
              <a:t>dxf</a:t>
            </a:r>
            <a:r>
              <a:rPr lang="zh-CN" altLang="en-US" dirty="0"/>
              <a:t>转为</a:t>
            </a:r>
            <a:r>
              <a:rPr lang="en-US" altLang="zh-CN" dirty="0" err="1"/>
              <a:t>gdsII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利用</a:t>
            </a:r>
            <a:r>
              <a:rPr lang="en-US" altLang="zh-CN" dirty="0"/>
              <a:t>L-edit</a:t>
            </a:r>
            <a:r>
              <a:rPr lang="zh-CN" altLang="en-US" dirty="0"/>
              <a:t>导入，并进行逻辑运算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644" y="883918"/>
            <a:ext cx="4193302" cy="347472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-105505" y="56075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07741" y="67830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图形处理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595235" y="1350593"/>
            <a:ext cx="5824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新建</a:t>
            </a:r>
            <a:r>
              <a:rPr lang="en-US" altLang="zh-CN" dirty="0" err="1"/>
              <a:t>dxf</a:t>
            </a:r>
            <a:r>
              <a:rPr lang="zh-CN" altLang="en-US" dirty="0"/>
              <a:t>文件，从版图中截取部分图形并设置边框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利用</a:t>
            </a:r>
            <a:r>
              <a:rPr lang="en-US" altLang="zh-CN" dirty="0" err="1"/>
              <a:t>linkcad</a:t>
            </a:r>
            <a:r>
              <a:rPr lang="zh-CN" altLang="en-US" dirty="0"/>
              <a:t>将</a:t>
            </a:r>
            <a:r>
              <a:rPr lang="en-US" altLang="zh-CN" dirty="0" err="1"/>
              <a:t>dxf</a:t>
            </a:r>
            <a:r>
              <a:rPr lang="zh-CN" altLang="en-US" dirty="0"/>
              <a:t>转为</a:t>
            </a:r>
            <a:r>
              <a:rPr lang="en-US" altLang="zh-CN" dirty="0" err="1"/>
              <a:t>gdsII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利用</a:t>
            </a:r>
            <a:r>
              <a:rPr lang="en-US" altLang="zh-CN" dirty="0"/>
              <a:t>L-edit</a:t>
            </a:r>
            <a:r>
              <a:rPr lang="zh-CN" altLang="en-US" dirty="0"/>
              <a:t>导入</a:t>
            </a:r>
            <a:r>
              <a:rPr lang="en-US" altLang="zh-CN" dirty="0" err="1"/>
              <a:t>gdsII</a:t>
            </a:r>
            <a:r>
              <a:rPr lang="en-US" altLang="zh-CN" dirty="0"/>
              <a:t> </a:t>
            </a:r>
            <a:r>
              <a:rPr lang="zh-CN" altLang="en-US" dirty="0"/>
              <a:t>图形，并进行逻辑运算，并导出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-105505" y="56075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③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90" y="967873"/>
            <a:ext cx="5786245" cy="198990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787" y="3299267"/>
            <a:ext cx="4619625" cy="23717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10" y="3354270"/>
            <a:ext cx="5786245" cy="209675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3036" y="5835583"/>
            <a:ext cx="11346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注</a:t>
            </a:r>
            <a:r>
              <a:rPr lang="en-US" altLang="zh-CN" sz="1200" dirty="0">
                <a:solidFill>
                  <a:srgbClr val="FF0000"/>
                </a:solidFill>
              </a:rPr>
              <a:t>1</a:t>
            </a:r>
            <a:r>
              <a:rPr lang="zh-CN" altLang="en-US" sz="1200" dirty="0">
                <a:solidFill>
                  <a:srgbClr val="FF0000"/>
                </a:solidFill>
              </a:rPr>
              <a:t>：芯片版图绘制的图形是刻蚀区域，空白的地方为金属区域；而在仿真时，图形为金属区域，空白处为刻蚀区域。芯片版图与仿真模型是互补图形，因此需要处理</a:t>
            </a:r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zh-CN" altLang="en-US" sz="1200" dirty="0">
                <a:solidFill>
                  <a:srgbClr val="FF0000"/>
                </a:solidFill>
              </a:rPr>
              <a:t>注</a:t>
            </a:r>
            <a:r>
              <a:rPr lang="en-US" altLang="zh-CN" sz="1200" dirty="0">
                <a:solidFill>
                  <a:srgbClr val="FF0000"/>
                </a:solidFill>
              </a:rPr>
              <a:t>2</a:t>
            </a:r>
            <a:r>
              <a:rPr lang="zh-CN" altLang="en-US" sz="1200" dirty="0">
                <a:solidFill>
                  <a:srgbClr val="FF0000"/>
                </a:solidFill>
              </a:rPr>
              <a:t>：以上图形处理流程，仅为个人习惯。</a:t>
            </a:r>
            <a:r>
              <a:rPr lang="en-US" altLang="zh-CN" sz="1200" dirty="0" err="1">
                <a:solidFill>
                  <a:srgbClr val="FF0000"/>
                </a:solidFill>
              </a:rPr>
              <a:t>dxf</a:t>
            </a:r>
            <a:r>
              <a:rPr lang="zh-CN" altLang="en-US" sz="1200" dirty="0">
                <a:solidFill>
                  <a:srgbClr val="FF0000"/>
                </a:solidFill>
              </a:rPr>
              <a:t>、</a:t>
            </a:r>
            <a:r>
              <a:rPr lang="en-US" altLang="zh-CN" sz="1200" dirty="0" err="1">
                <a:solidFill>
                  <a:srgbClr val="FF0000"/>
                </a:solidFill>
              </a:rPr>
              <a:t>gdsII</a:t>
            </a:r>
            <a:r>
              <a:rPr lang="zh-CN" altLang="en-US" sz="1200" dirty="0">
                <a:solidFill>
                  <a:srgbClr val="FF0000"/>
                </a:solidFill>
              </a:rPr>
              <a:t>均可导入</a:t>
            </a:r>
            <a:r>
              <a:rPr lang="en-US" altLang="zh-CN" sz="1200" dirty="0">
                <a:solidFill>
                  <a:srgbClr val="FF0000"/>
                </a:solidFill>
              </a:rPr>
              <a:t>HFSS</a:t>
            </a:r>
            <a:r>
              <a:rPr lang="zh-CN" altLang="en-US" sz="1200" dirty="0">
                <a:solidFill>
                  <a:srgbClr val="FF0000"/>
                </a:solidFill>
              </a:rPr>
              <a:t>，</a:t>
            </a:r>
            <a:r>
              <a:rPr lang="en-US" altLang="zh-CN" sz="1200" dirty="0">
                <a:solidFill>
                  <a:srgbClr val="FF0000"/>
                </a:solidFill>
              </a:rPr>
              <a:t>HFSS</a:t>
            </a:r>
            <a:r>
              <a:rPr lang="zh-CN" altLang="en-US" sz="1200" dirty="0">
                <a:solidFill>
                  <a:srgbClr val="FF0000"/>
                </a:solidFill>
              </a:rPr>
              <a:t>内部也可进行布尔运算处理，完成版图到仿真模型的转换。</a:t>
            </a:r>
            <a:endParaRPr lang="en-US" altLang="zh-CN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HFSS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5862703" y="1001473"/>
            <a:ext cx="61365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新建</a:t>
            </a:r>
            <a:r>
              <a:rPr lang="en-US" altLang="zh-CN" dirty="0"/>
              <a:t>project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插入</a:t>
            </a:r>
            <a:r>
              <a:rPr lang="en-US" altLang="zh-CN" dirty="0"/>
              <a:t>HFSS</a:t>
            </a:r>
            <a:r>
              <a:rPr lang="zh-CN" altLang="en-US" dirty="0"/>
              <a:t>，在</a:t>
            </a:r>
            <a:r>
              <a:rPr lang="en-US" altLang="zh-CN" dirty="0"/>
              <a:t>project</a:t>
            </a:r>
            <a:r>
              <a:rPr lang="zh-CN" altLang="en-US" dirty="0"/>
              <a:t>栏选择新建的</a:t>
            </a:r>
            <a:r>
              <a:rPr lang="en-US" altLang="zh-CN" dirty="0"/>
              <a:t>HFSS</a:t>
            </a:r>
            <a:r>
              <a:rPr lang="zh-CN" altLang="en-US" dirty="0"/>
              <a:t>，右键更改解类型为</a:t>
            </a:r>
            <a:r>
              <a:rPr lang="en-US" altLang="zh-CN" dirty="0"/>
              <a:t>Eigenmode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导入</a:t>
            </a:r>
            <a:r>
              <a:rPr lang="en-US" altLang="zh-CN" dirty="0" err="1"/>
              <a:t>gdsII</a:t>
            </a:r>
            <a:r>
              <a:rPr lang="zh-CN" altLang="en-US" dirty="0"/>
              <a:t>图形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选中所有图形，设置边界条件为理想导体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30" y="1213699"/>
            <a:ext cx="5248643" cy="102759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65" y="5282912"/>
            <a:ext cx="5248643" cy="89394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612" y="2875510"/>
            <a:ext cx="3705225" cy="3224213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30" y="2438418"/>
            <a:ext cx="2893187" cy="230844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0" y="79197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-1" y="488597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203534" y="255234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01591" y="919154"/>
            <a:ext cx="6096346" cy="4445947"/>
            <a:chOff x="47625" y="123825"/>
            <a:chExt cx="12096750" cy="66103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25" y="123825"/>
              <a:ext cx="12096750" cy="6610350"/>
            </a:xfrm>
            <a:prstGeom prst="rect">
              <a:avLst/>
            </a:prstGeom>
          </p:spPr>
        </p:pic>
        <p:sp>
          <p:nvSpPr>
            <p:cNvPr id="4" name="椭圆 3"/>
            <p:cNvSpPr/>
            <p:nvPr/>
          </p:nvSpPr>
          <p:spPr>
            <a:xfrm>
              <a:off x="3676261" y="307910"/>
              <a:ext cx="233266" cy="28924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10742644" y="6444926"/>
              <a:ext cx="233266" cy="28924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18213" y="5628405"/>
            <a:ext cx="100751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建模，在导入的平面图形下面新建一个长方体（</a:t>
            </a:r>
            <a:r>
              <a:rPr lang="en-US" altLang="zh-CN" dirty="0"/>
              <a:t>BOX</a:t>
            </a:r>
            <a:r>
              <a:rPr lang="zh-CN" altLang="en-US" dirty="0"/>
              <a:t>），长宽与平面图形一致，厚度为</a:t>
            </a:r>
            <a:r>
              <a:rPr lang="en-US" altLang="zh-CN" dirty="0"/>
              <a:t>-0.5mm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在</a:t>
            </a:r>
            <a:r>
              <a:rPr lang="en-US" altLang="zh-CN" dirty="0"/>
              <a:t>model</a:t>
            </a:r>
            <a:r>
              <a:rPr lang="zh-CN" altLang="en-US" dirty="0"/>
              <a:t>栏里面，选择上一步新建的长方体（</a:t>
            </a:r>
            <a:r>
              <a:rPr lang="en-US" altLang="zh-CN" dirty="0"/>
              <a:t>BOX1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并在属性栏里面，编辑材质，设为蓝宝石（</a:t>
            </a:r>
            <a:r>
              <a:rPr lang="en-US" altLang="zh-CN" dirty="0"/>
              <a:t>sapphire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62" y="919154"/>
            <a:ext cx="2004544" cy="422636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530" y="919154"/>
            <a:ext cx="1562839" cy="412160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90999" y="5298239"/>
            <a:ext cx="9480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与上一节相同，再新建一个长方体，高度从</a:t>
            </a:r>
            <a:r>
              <a:rPr lang="en-US" altLang="zh-CN" dirty="0"/>
              <a:t>-0.5mm</a:t>
            </a:r>
            <a:r>
              <a:rPr lang="zh-CN" altLang="en-US" dirty="0"/>
              <a:t>至</a:t>
            </a:r>
            <a:r>
              <a:rPr lang="en-US" altLang="zh-CN" dirty="0"/>
              <a:t>0.5mm</a:t>
            </a:r>
            <a:r>
              <a:rPr lang="zh-CN" altLang="en-US" dirty="0"/>
              <a:t>，属性设为真空（</a:t>
            </a:r>
            <a:r>
              <a:rPr lang="en-US" altLang="zh-CN" dirty="0"/>
              <a:t>vacuum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点击新建的</a:t>
            </a:r>
            <a:r>
              <a:rPr lang="en-US" altLang="zh-CN" dirty="0"/>
              <a:t>BOX</a:t>
            </a:r>
            <a:r>
              <a:rPr lang="zh-CN" altLang="en-US" dirty="0"/>
              <a:t>，并隐藏视图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视图选为</a:t>
            </a:r>
            <a:r>
              <a:rPr lang="en-US" altLang="zh-CN" dirty="0"/>
              <a:t>Top</a:t>
            </a:r>
            <a:r>
              <a:rPr lang="zh-CN" altLang="en-US" dirty="0"/>
              <a:t>（</a:t>
            </a:r>
            <a:r>
              <a:rPr lang="en-US" altLang="zh-CN" dirty="0"/>
              <a:t>-Z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在总线与地之间新建一个矩形，在另一端也新建一个矩形</a:t>
            </a:r>
            <a:endParaRPr lang="en-US" altLang="zh-CN" dirty="0"/>
          </a:p>
        </p:txBody>
      </p:sp>
      <p:grpSp>
        <p:nvGrpSpPr>
          <p:cNvPr id="11" name="组合 10"/>
          <p:cNvGrpSpPr/>
          <p:nvPr/>
        </p:nvGrpSpPr>
        <p:grpSpPr>
          <a:xfrm>
            <a:off x="-26536" y="877372"/>
            <a:ext cx="5666690" cy="1954274"/>
            <a:chOff x="900796" y="1362759"/>
            <a:chExt cx="5666690" cy="195427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3961" y="1573958"/>
              <a:ext cx="5343525" cy="1743075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900796" y="1362759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0" name="椭圆 9"/>
            <p:cNvSpPr/>
            <p:nvPr/>
          </p:nvSpPr>
          <p:spPr>
            <a:xfrm>
              <a:off x="4180117" y="2009090"/>
              <a:ext cx="279918" cy="40121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29" y="2980646"/>
            <a:ext cx="5572125" cy="20002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-26536" y="292009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62965"/>
            <a:ext cx="4321436" cy="236603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799" y="1302322"/>
            <a:ext cx="1738320" cy="1887319"/>
          </a:xfrm>
          <a:prstGeom prst="rect">
            <a:avLst/>
          </a:prstGeom>
        </p:spPr>
      </p:pic>
      <p:cxnSp>
        <p:nvCxnSpPr>
          <p:cNvPr id="24" name="直接连接符 23"/>
          <p:cNvCxnSpPr/>
          <p:nvPr/>
        </p:nvCxnSpPr>
        <p:spPr>
          <a:xfrm flipV="1">
            <a:off x="10041443" y="1302322"/>
            <a:ext cx="434356" cy="128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0084408" y="1669821"/>
            <a:ext cx="391391" cy="1519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9858375" y="1438275"/>
            <a:ext cx="228600" cy="2393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859758" y="77897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建模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90999" y="5298239"/>
            <a:ext cx="88408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对新建的矩形右键单击，设定为</a:t>
            </a:r>
            <a:r>
              <a:rPr lang="en-US" altLang="zh-CN" dirty="0"/>
              <a:t>Lump RLC</a:t>
            </a:r>
            <a:r>
              <a:rPr lang="zh-CN" altLang="en-US" dirty="0"/>
              <a:t>边界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设置为</a:t>
            </a:r>
            <a:r>
              <a:rPr lang="en-US" altLang="zh-CN" dirty="0"/>
              <a:t>50Ω</a:t>
            </a:r>
            <a:r>
              <a:rPr lang="zh-CN" altLang="en-US" dirty="0"/>
              <a:t>，并新建电流线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电流线画在矩形的中线上，方向为从总线到地或地到总线均可，但两个矩形要一致</a:t>
            </a:r>
            <a:endParaRPr lang="en-US" altLang="zh-CN" dirty="0"/>
          </a:p>
        </p:txBody>
      </p:sp>
      <p:sp>
        <p:nvSpPr>
          <p:cNvPr id="18" name="文本框 17"/>
          <p:cNvSpPr txBox="1"/>
          <p:nvPr/>
        </p:nvSpPr>
        <p:spPr>
          <a:xfrm>
            <a:off x="8959317" y="89297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511688" y="57589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②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8" y="899059"/>
            <a:ext cx="3640150" cy="278722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40" y="1152519"/>
            <a:ext cx="4048125" cy="41814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181" y="1292548"/>
            <a:ext cx="2143125" cy="200025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25331" y="91984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建模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90999" y="6221569"/>
            <a:ext cx="5176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注：</a:t>
            </a:r>
            <a:r>
              <a:rPr lang="en-US" altLang="zh-CN" sz="1400" dirty="0">
                <a:solidFill>
                  <a:srgbClr val="FF0000"/>
                </a:solidFill>
              </a:rPr>
              <a:t>50Ω</a:t>
            </a:r>
            <a:r>
              <a:rPr lang="zh-CN" altLang="en-US" sz="1400" dirty="0">
                <a:solidFill>
                  <a:srgbClr val="FF0000"/>
                </a:solidFill>
              </a:rPr>
              <a:t>的设置会带来损耗，这一步的目的是为了模拟实际情况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57" y="841310"/>
            <a:ext cx="3302972" cy="409838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8016" y="5370359"/>
            <a:ext cx="9790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在</a:t>
            </a:r>
            <a:r>
              <a:rPr lang="en-US" altLang="zh-CN" dirty="0"/>
              <a:t>project</a:t>
            </a:r>
            <a:r>
              <a:rPr lang="zh-CN" altLang="en-US" dirty="0"/>
              <a:t>栏，右键单击</a:t>
            </a:r>
            <a:r>
              <a:rPr lang="en-US" altLang="zh-CN" dirty="0"/>
              <a:t>analysis</a:t>
            </a:r>
            <a:r>
              <a:rPr lang="zh-CN" altLang="en-US" dirty="0"/>
              <a:t>，添加求解步骤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最小频率设为</a:t>
            </a:r>
            <a:r>
              <a:rPr lang="en-US" altLang="zh-CN" dirty="0"/>
              <a:t>4GHz</a:t>
            </a:r>
            <a:r>
              <a:rPr lang="zh-CN" altLang="en-US" dirty="0"/>
              <a:t>（低于谐振腔频率），模数量建议设为</a:t>
            </a:r>
            <a:r>
              <a:rPr lang="en-US" altLang="zh-CN" dirty="0"/>
              <a:t>2</a:t>
            </a:r>
            <a:r>
              <a:rPr lang="zh-CN" altLang="en-US" dirty="0"/>
              <a:t>，最大迭代次数可设为</a:t>
            </a:r>
            <a:r>
              <a:rPr lang="en-US" altLang="zh-CN" dirty="0"/>
              <a:t>10</a:t>
            </a:r>
            <a:r>
              <a:rPr lang="zh-CN" altLang="en-US" dirty="0"/>
              <a:t>，最小收敛值建议设为</a:t>
            </a:r>
            <a:r>
              <a:rPr lang="en-US" altLang="zh-CN" dirty="0"/>
              <a:t>1%</a:t>
            </a:r>
            <a:r>
              <a:rPr lang="zh-CN" altLang="en-US" dirty="0"/>
              <a:t>，勾选实数收敛</a:t>
            </a:r>
            <a:endParaRPr lang="en-US" altLang="zh-CN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124548" y="841310"/>
            <a:ext cx="2531635" cy="4098382"/>
            <a:chOff x="5124548" y="841310"/>
            <a:chExt cx="2531635" cy="409838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4548" y="841310"/>
              <a:ext cx="2531635" cy="4098382"/>
            </a:xfrm>
            <a:prstGeom prst="rect">
              <a:avLst/>
            </a:prstGeom>
          </p:spPr>
        </p:pic>
        <p:sp>
          <p:nvSpPr>
            <p:cNvPr id="9" name="椭圆 8"/>
            <p:cNvSpPr/>
            <p:nvPr/>
          </p:nvSpPr>
          <p:spPr>
            <a:xfrm>
              <a:off x="5948363" y="1600200"/>
              <a:ext cx="304800" cy="55721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6390365" y="2260827"/>
              <a:ext cx="304800" cy="55721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605463" y="2767013"/>
              <a:ext cx="214312" cy="2524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求解设置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6712"/>
            <a:ext cx="5257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30890" y="3991347"/>
            <a:ext cx="6093736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点击</a:t>
            </a:r>
            <a:r>
              <a:rPr lang="en-US" altLang="zh-CN" dirty="0"/>
              <a:t>validation check</a:t>
            </a:r>
            <a:r>
              <a:rPr lang="zh-CN" altLang="en-US" dirty="0"/>
              <a:t>进行验证，通过验证后点击</a:t>
            </a:r>
            <a:r>
              <a:rPr lang="en-US" altLang="zh-CN" dirty="0"/>
              <a:t>Analyze All</a:t>
            </a:r>
            <a:r>
              <a:rPr lang="zh-CN" altLang="en-US" dirty="0"/>
              <a:t>即可进行求解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右键单击</a:t>
            </a:r>
            <a:r>
              <a:rPr lang="en-US" altLang="zh-CN" dirty="0"/>
              <a:t>project</a:t>
            </a:r>
            <a:r>
              <a:rPr lang="zh-CN" altLang="en-US" dirty="0"/>
              <a:t>栏中的</a:t>
            </a:r>
            <a:r>
              <a:rPr lang="en-US" altLang="zh-CN" dirty="0" err="1"/>
              <a:t>Results→solution</a:t>
            </a:r>
            <a:r>
              <a:rPr lang="en-US" altLang="zh-CN" dirty="0"/>
              <a:t> data</a:t>
            </a:r>
            <a:r>
              <a:rPr lang="zh-CN" altLang="en-US" dirty="0"/>
              <a:t>查看求解情况。在</a:t>
            </a:r>
            <a:r>
              <a:rPr lang="en-US" altLang="zh-CN" dirty="0"/>
              <a:t>Eigenmode</a:t>
            </a:r>
            <a:r>
              <a:rPr lang="zh-CN" altLang="en-US" dirty="0"/>
              <a:t>中查看谐振腔本征值；在</a:t>
            </a:r>
            <a:r>
              <a:rPr lang="en-US" altLang="zh-CN" dirty="0"/>
              <a:t>convergence</a:t>
            </a:r>
            <a:r>
              <a:rPr lang="zh-CN" altLang="en-US" dirty="0"/>
              <a:t>中检验当前值的收敛情况，</a:t>
            </a:r>
            <a:r>
              <a:rPr lang="en-US" altLang="zh-CN" dirty="0"/>
              <a:t>delta</a:t>
            </a:r>
            <a:r>
              <a:rPr lang="zh-CN" altLang="en-US" dirty="0"/>
              <a:t>值低于</a:t>
            </a:r>
            <a:r>
              <a:rPr lang="en-US" altLang="zh-CN" dirty="0"/>
              <a:t>1%</a:t>
            </a:r>
            <a:r>
              <a:rPr lang="zh-CN" altLang="en-US" dirty="0"/>
              <a:t>则结果可信，若</a:t>
            </a:r>
            <a:r>
              <a:rPr lang="en-US" altLang="zh-CN" dirty="0"/>
              <a:t>delta</a:t>
            </a:r>
            <a:r>
              <a:rPr lang="zh-CN" altLang="en-US" dirty="0"/>
              <a:t>大于</a:t>
            </a:r>
            <a:r>
              <a:rPr lang="en-US" altLang="zh-CN" dirty="0"/>
              <a:t>1%</a:t>
            </a:r>
            <a:r>
              <a:rPr lang="zh-CN" altLang="en-US" dirty="0"/>
              <a:t>，可再增加迭代次数，重新求解。</a:t>
            </a:r>
            <a:endParaRPr lang="en-US" altLang="zh-CN" dirty="0"/>
          </a:p>
        </p:txBody>
      </p:sp>
      <p:pic>
        <p:nvPicPr>
          <p:cNvPr id="6" name="图片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919" y="825026"/>
            <a:ext cx="4050481" cy="1589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919" y="2521258"/>
            <a:ext cx="4050481" cy="315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求解设置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0890" y="6021288"/>
            <a:ext cx="10534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注：更为精确的求解，可以复制一个新的</a:t>
            </a:r>
            <a:r>
              <a:rPr lang="en-US" altLang="zh-CN" sz="1200" dirty="0" err="1">
                <a:solidFill>
                  <a:srgbClr val="FF0000"/>
                </a:solidFill>
              </a:rPr>
              <a:t>HFSSDesign</a:t>
            </a:r>
            <a:r>
              <a:rPr lang="zh-CN" altLang="en-US" sz="1200" dirty="0">
                <a:solidFill>
                  <a:srgbClr val="FF0000"/>
                </a:solidFill>
              </a:rPr>
              <a:t>，将求解模式改为</a:t>
            </a:r>
            <a:r>
              <a:rPr lang="en-US" altLang="zh-CN" sz="1200" dirty="0">
                <a:solidFill>
                  <a:srgbClr val="FF0000"/>
                </a:solidFill>
              </a:rPr>
              <a:t>HFSS(modal network)</a:t>
            </a:r>
            <a:r>
              <a:rPr lang="zh-CN" altLang="en-US" sz="1200" dirty="0">
                <a:solidFill>
                  <a:srgbClr val="FF0000"/>
                </a:solidFill>
              </a:rPr>
              <a:t>，将总线两端的矩形改为</a:t>
            </a:r>
            <a:r>
              <a:rPr lang="en-US" altLang="zh-CN" sz="1200" dirty="0">
                <a:solidFill>
                  <a:srgbClr val="FF0000"/>
                </a:solidFill>
              </a:rPr>
              <a:t>lump</a:t>
            </a:r>
            <a:r>
              <a:rPr lang="zh-CN" altLang="en-US" sz="1200" dirty="0">
                <a:solidFill>
                  <a:srgbClr val="FF0000"/>
                </a:solidFill>
              </a:rPr>
              <a:t>激励，并导入本征模式划分的网格（</a:t>
            </a:r>
            <a:r>
              <a:rPr lang="en-US" altLang="zh-CN" sz="1200" dirty="0">
                <a:solidFill>
                  <a:srgbClr val="FF0000"/>
                </a:solidFill>
              </a:rPr>
              <a:t>mesh</a:t>
            </a:r>
            <a:r>
              <a:rPr lang="zh-CN" altLang="en-US" sz="1200" dirty="0">
                <a:solidFill>
                  <a:srgbClr val="FF0000"/>
                </a:solidFill>
              </a:rPr>
              <a:t>），再求解，即可得到</a:t>
            </a:r>
            <a:r>
              <a:rPr lang="en-US" altLang="zh-CN" sz="1200" dirty="0">
                <a:solidFill>
                  <a:srgbClr val="FF0000"/>
                </a:solidFill>
              </a:rPr>
              <a:t>S21</a:t>
            </a:r>
            <a:r>
              <a:rPr lang="zh-CN" altLang="en-US" sz="1200" dirty="0">
                <a:solidFill>
                  <a:srgbClr val="FF0000"/>
                </a:solidFill>
              </a:rPr>
              <a:t>曲线，从中可以得到谐振腔频率以及</a:t>
            </a:r>
            <a:r>
              <a:rPr lang="en-US" altLang="zh-CN" sz="1200" dirty="0">
                <a:solidFill>
                  <a:srgbClr val="FF0000"/>
                </a:solidFill>
              </a:rPr>
              <a:t>Q</a:t>
            </a:r>
            <a:r>
              <a:rPr lang="zh-CN" altLang="en-US" sz="1200" dirty="0">
                <a:solidFill>
                  <a:srgbClr val="FF0000"/>
                </a:solidFill>
              </a:rPr>
              <a:t>值。详情可见参考文献</a:t>
            </a:r>
            <a:r>
              <a:rPr lang="en-US" altLang="zh-CN" sz="1200" dirty="0">
                <a:solidFill>
                  <a:srgbClr val="FF0000"/>
                </a:solidFill>
              </a:rPr>
              <a:t>arXiv:2112.027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925988" y="2058349"/>
            <a:ext cx="6498383" cy="12263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5" b="1" i="0" u="none" strike="noStrike" kern="1200" cap="none" spc="50" normalizeH="0" baseline="0" noProof="0" dirty="0">
              <a:ln w="11430"/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" y="6183208"/>
            <a:ext cx="12192176" cy="696978"/>
          </a:xfrm>
          <a:prstGeom prst="rect">
            <a:avLst/>
          </a:prstGeom>
        </p:spPr>
      </p:pic>
      <p:pic>
        <p:nvPicPr>
          <p:cNvPr id="59" name="Picture 3" descr="G:\刘俊霞\图片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16" y="5401641"/>
            <a:ext cx="3186651" cy="98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34389" y="764704"/>
            <a:ext cx="0" cy="611548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324840" y="976257"/>
            <a:ext cx="2875431" cy="1022876"/>
          </a:xfrm>
          <a:prstGeom prst="roundRect">
            <a:avLst>
              <a:gd name="adj" fmla="val 42181"/>
            </a:avLst>
          </a:prstGeom>
          <a:solidFill>
            <a:srgbClr val="FFFFFF"/>
          </a:solidFill>
          <a:ln w="19050" cap="rnd">
            <a:noFill/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1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kumimoji="0" lang="en-US" altLang="zh-CN" sz="481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808126" y="900652"/>
            <a:ext cx="6123310" cy="498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芯片参数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谐振腔频率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电容值仿真</a:t>
            </a:r>
            <a:endParaRPr lang="en-US" altLang="zh-CN" sz="3605" b="1" spc="50" dirty="0">
              <a:ln w="1143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互感值仿真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401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25" y="1035845"/>
            <a:ext cx="340042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868" y="1035845"/>
            <a:ext cx="308610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7384" y="4305017"/>
            <a:ext cx="7515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新建矩形，将比特电容与地相连，设置</a:t>
            </a:r>
            <a:r>
              <a:rPr lang="en-US" altLang="zh-CN" dirty="0"/>
              <a:t>Lump RLC</a:t>
            </a:r>
            <a:r>
              <a:rPr lang="zh-CN" altLang="en-US" dirty="0"/>
              <a:t>条件，选择电感为</a:t>
            </a:r>
            <a:r>
              <a:rPr lang="en-US" altLang="zh-CN" dirty="0"/>
              <a:t>10nH</a:t>
            </a:r>
            <a:r>
              <a:rPr lang="zh-CN" altLang="en-US" dirty="0"/>
              <a:t>（对应约</a:t>
            </a:r>
            <a:r>
              <a:rPr lang="en-US" altLang="zh-CN" dirty="0"/>
              <a:t>30nA</a:t>
            </a:r>
            <a:r>
              <a:rPr lang="zh-CN" altLang="en-US" dirty="0"/>
              <a:t>超流），设置电流方向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按照谐振腔流程，设置边界、求解条件，利用本征模式计算比特频率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81940" y="1087755"/>
            <a:ext cx="2271395" cy="16287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3857" y="5401894"/>
            <a:ext cx="6515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注：比特频率的仿真与谐振腔类型，都是利用本征模式求解</a:t>
            </a:r>
            <a:r>
              <a:rPr lang="en-US" altLang="zh-CN" sz="1600" dirty="0">
                <a:solidFill>
                  <a:srgbClr val="FF0000"/>
                </a:solidFill>
              </a:rPr>
              <a:t>LC</a:t>
            </a:r>
            <a:r>
              <a:rPr lang="zh-CN" altLang="en-US" sz="1600" dirty="0">
                <a:solidFill>
                  <a:srgbClr val="FF0000"/>
                </a:solidFill>
              </a:rPr>
              <a:t>电路的频率，唯一的区别是在于比特的电感来自于约瑟夫森结结构，因此建模时需要额外的添加等效电感代替约瑟夫森结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等效电感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925988" y="2058349"/>
            <a:ext cx="6498383" cy="12263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5" b="1" i="0" u="none" strike="noStrike" kern="1200" cap="none" spc="50" normalizeH="0" baseline="0" noProof="0" dirty="0">
              <a:ln w="11430"/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" y="6183208"/>
            <a:ext cx="12192176" cy="696978"/>
          </a:xfrm>
          <a:prstGeom prst="rect">
            <a:avLst/>
          </a:prstGeom>
        </p:spPr>
      </p:pic>
      <p:pic>
        <p:nvPicPr>
          <p:cNvPr id="59" name="Picture 3" descr="G:\刘俊霞\图片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16" y="5401641"/>
            <a:ext cx="3186651" cy="98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34389" y="764704"/>
            <a:ext cx="0" cy="611548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324840" y="976257"/>
            <a:ext cx="2875431" cy="1022876"/>
          </a:xfrm>
          <a:prstGeom prst="roundRect">
            <a:avLst>
              <a:gd name="adj" fmla="val 42181"/>
            </a:avLst>
          </a:prstGeom>
          <a:solidFill>
            <a:srgbClr val="FFFFFF"/>
          </a:solidFill>
          <a:ln w="19050" cap="rnd">
            <a:noFill/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1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kumimoji="0" lang="en-US" altLang="zh-CN" sz="481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808126" y="900652"/>
            <a:ext cx="6123310" cy="498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芯片参数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谐振腔频率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比特频率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电容值仿真</a:t>
            </a:r>
            <a:endParaRPr lang="en-US" altLang="zh-CN" sz="3605" b="1" spc="50" dirty="0">
              <a:ln w="11430"/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互感值仿真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22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852488"/>
            <a:ext cx="27527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04" y="957262"/>
            <a:ext cx="2709862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421364" y="4633913"/>
            <a:ext cx="101990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插入</a:t>
            </a:r>
            <a:r>
              <a:rPr lang="en-US" altLang="zh-CN" dirty="0"/>
              <a:t>Q3D</a:t>
            </a:r>
            <a:r>
              <a:rPr lang="zh-CN" altLang="en-US" dirty="0"/>
              <a:t>，导入</a:t>
            </a:r>
            <a:r>
              <a:rPr lang="en-US" altLang="zh-CN" dirty="0" err="1"/>
              <a:t>gdsII</a:t>
            </a:r>
            <a:r>
              <a:rPr lang="zh-CN" altLang="en-US" dirty="0"/>
              <a:t>图形，并建模，设置衬底与真空边界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将导入的图形设置为薄导体边界，材质为理想导体，厚度为</a:t>
            </a:r>
            <a:r>
              <a:rPr lang="en-US" altLang="zh-CN" dirty="0"/>
              <a:t>0.1um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74940" y="86813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07098" y="68648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Q3D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25" y="860425"/>
            <a:ext cx="216217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188" y="2595562"/>
            <a:ext cx="2880392" cy="3819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340" y="860425"/>
            <a:ext cx="2880391" cy="1510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-102581" y="3429000"/>
            <a:ext cx="5341261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右键单击</a:t>
            </a:r>
            <a:r>
              <a:rPr lang="en-US" altLang="zh-CN" dirty="0"/>
              <a:t>project</a:t>
            </a:r>
            <a:r>
              <a:rPr lang="zh-CN" altLang="en-US" dirty="0"/>
              <a:t>栏中的</a:t>
            </a:r>
            <a:r>
              <a:rPr lang="en-US" altLang="zh-CN" dirty="0"/>
              <a:t>nets</a:t>
            </a:r>
            <a:r>
              <a:rPr lang="zh-CN" altLang="en-US" dirty="0"/>
              <a:t>，选择自动定义；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新建求解，右键进行属性设置，求解频率设为</a:t>
            </a:r>
            <a:r>
              <a:rPr lang="en-US" altLang="zh-CN" dirty="0"/>
              <a:t>5GHz</a:t>
            </a:r>
            <a:r>
              <a:rPr lang="zh-CN" altLang="en-US" dirty="0"/>
              <a:t>，求解选项仅勾选电容</a:t>
            </a:r>
            <a:r>
              <a:rPr lang="en-US" altLang="zh-CN" dirty="0"/>
              <a:t>/</a:t>
            </a:r>
            <a:r>
              <a:rPr lang="zh-CN" altLang="en-US" dirty="0"/>
              <a:t>电导；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设置完毕后，点击</a:t>
            </a:r>
            <a:r>
              <a:rPr lang="en-US" altLang="zh-CN" dirty="0"/>
              <a:t>Q3D Extractor</a:t>
            </a:r>
            <a:r>
              <a:rPr lang="zh-CN" altLang="en-US" dirty="0"/>
              <a:t>→</a:t>
            </a:r>
            <a:r>
              <a:rPr lang="en-US" altLang="zh-CN" dirty="0"/>
              <a:t>validation check</a:t>
            </a:r>
            <a:r>
              <a:rPr lang="zh-CN" altLang="en-US" dirty="0"/>
              <a:t>进行验证，通过验证后点击</a:t>
            </a:r>
            <a:r>
              <a:rPr lang="en-US" altLang="zh-CN" dirty="0"/>
              <a:t>Analyze All</a:t>
            </a:r>
            <a:r>
              <a:rPr lang="zh-CN" altLang="en-US" dirty="0"/>
              <a:t>即可进行求解；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右键单击</a:t>
            </a:r>
            <a:r>
              <a:rPr lang="en-US" altLang="zh-CN" dirty="0"/>
              <a:t>project</a:t>
            </a:r>
            <a:r>
              <a:rPr lang="zh-CN" altLang="en-US" dirty="0"/>
              <a:t>栏中的</a:t>
            </a:r>
            <a:r>
              <a:rPr lang="en-US" altLang="zh-CN" dirty="0" err="1"/>
              <a:t>Results→solution</a:t>
            </a:r>
            <a:r>
              <a:rPr lang="en-US" altLang="zh-CN" dirty="0"/>
              <a:t> data</a:t>
            </a:r>
            <a:r>
              <a:rPr lang="zh-CN" altLang="en-US" dirty="0"/>
              <a:t>查看求解情况。仅勾选电容，单位选择</a:t>
            </a:r>
            <a:r>
              <a:rPr lang="en-US" altLang="zh-CN" dirty="0" err="1"/>
              <a:t>fF</a:t>
            </a:r>
            <a:r>
              <a:rPr lang="zh-CN" altLang="en-US" dirty="0"/>
              <a:t>，对角矩阵元为自电容，非对角矩阵元为耦合电容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图片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829" y="860424"/>
            <a:ext cx="3989171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121494" y="71029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01667" y="71029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58674" y="71029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电容求解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925988" y="2058349"/>
            <a:ext cx="6498383" cy="12263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5" b="1" i="0" u="none" strike="noStrike" kern="1200" cap="none" spc="50" normalizeH="0" baseline="0" noProof="0" dirty="0">
              <a:ln w="11430"/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" y="6183208"/>
            <a:ext cx="12192176" cy="696978"/>
          </a:xfrm>
          <a:prstGeom prst="rect">
            <a:avLst/>
          </a:prstGeom>
        </p:spPr>
      </p:pic>
      <p:pic>
        <p:nvPicPr>
          <p:cNvPr id="59" name="Picture 3" descr="G:\刘俊霞\图片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16" y="5401641"/>
            <a:ext cx="3186651" cy="98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34389" y="764704"/>
            <a:ext cx="0" cy="611548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324840" y="976257"/>
            <a:ext cx="2875431" cy="1022876"/>
          </a:xfrm>
          <a:prstGeom prst="roundRect">
            <a:avLst>
              <a:gd name="adj" fmla="val 42181"/>
            </a:avLst>
          </a:prstGeom>
          <a:solidFill>
            <a:srgbClr val="FFFFFF"/>
          </a:solidFill>
          <a:ln w="19050" cap="rnd">
            <a:noFill/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1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kumimoji="0" lang="en-US" altLang="zh-CN" sz="481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808126" y="900652"/>
            <a:ext cx="6123310" cy="498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芯片参数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谐振腔频率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比特频率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电容值仿真</a:t>
            </a:r>
            <a:endParaRPr lang="en-US" altLang="zh-CN" sz="3605" b="1" spc="50" dirty="0">
              <a:ln w="1143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互感值仿真</a:t>
            </a:r>
            <a:endParaRPr kumimoji="0" lang="en-US" altLang="zh-CN" sz="3605" b="1" i="0" u="none" strike="noStrike" kern="1200" cap="none" spc="50" normalizeH="0" baseline="0" noProof="0" dirty="0">
              <a:ln w="11430"/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122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421364" y="4735509"/>
            <a:ext cx="108470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插入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Maxwell 3D Design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，导入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gdsII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图形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；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将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导线和约瑟夫森结设置为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0.1um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厚，材料为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Al(aluminum)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；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JJ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沿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Z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轴移动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10um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342900" indent="-342900">
              <a:buFont typeface="+mj-ea"/>
              <a:buAutoNum type="circleNumDbPlain"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在导线和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JJ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上设置电流激励：切换到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XZ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面绘制矩形作为电流横截面，设置激励为电流，大小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10mA;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新建矩形对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JJ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进行相同设置，让导线和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JJ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上的电流方向一致；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Maxwell 3D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26" y="785490"/>
            <a:ext cx="3839111" cy="2553056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2142844" y="1810327"/>
            <a:ext cx="1597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712" y="772818"/>
            <a:ext cx="2863087" cy="3629196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5860255" y="4077854"/>
            <a:ext cx="11129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440" y="760595"/>
            <a:ext cx="4208070" cy="151581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62525" y="78837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①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348037" y="68648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②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554604" y="3663064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+mj-ea"/>
              <a:buAutoNum type="circleNumDbPlain" startAt="3"/>
              <a:defRPr/>
            </a:pPr>
            <a:endParaRPr lang="en-US" altLang="zh-CN" sz="3600" b="1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92447" y="677471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+mj-ea"/>
              <a:buAutoNum type="circleNumDbPlain" startAt="3"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0926618" y="1209963"/>
            <a:ext cx="4742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606" y="2276405"/>
            <a:ext cx="3038529" cy="2065867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>
            <a:off x="8719127" y="1902691"/>
            <a:ext cx="1274618" cy="17603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6257" y="2900832"/>
            <a:ext cx="2892333" cy="1733081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2755811" y="3231183"/>
            <a:ext cx="1006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导线</a:t>
            </a:r>
            <a:endParaRPr lang="en-US" altLang="zh-CN" dirty="0"/>
          </a:p>
          <a:p>
            <a:r>
              <a:rPr lang="en-US" altLang="zh-CN" dirty="0"/>
              <a:t>JJ</a:t>
            </a:r>
            <a:endParaRPr lang="zh-CN" altLang="en-US" dirty="0"/>
          </a:p>
        </p:txBody>
      </p:sp>
      <p:cxnSp>
        <p:nvCxnSpPr>
          <p:cNvPr id="33" name="直接箭头连接符 32"/>
          <p:cNvCxnSpPr/>
          <p:nvPr/>
        </p:nvCxnSpPr>
        <p:spPr>
          <a:xfrm flipH="1" flipV="1">
            <a:off x="2715491" y="3035816"/>
            <a:ext cx="277091" cy="2735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2626364" y="3747037"/>
            <a:ext cx="2025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求解互感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715491" y="1810327"/>
            <a:ext cx="1597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554604" y="3663064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+mj-ea"/>
              <a:buAutoNum type="circleNumDbPlain" startAt="3"/>
              <a:defRPr/>
            </a:pPr>
            <a:endParaRPr lang="en-US" altLang="zh-CN" sz="3600" b="1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95" y="748356"/>
            <a:ext cx="4662320" cy="189335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62525" y="78837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①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95" y="2751985"/>
            <a:ext cx="3687082" cy="168574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397" y="3191060"/>
            <a:ext cx="3046006" cy="117309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78" y="770369"/>
            <a:ext cx="5539200" cy="2031324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6495" y="270766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②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392447" y="677471"/>
            <a:ext cx="1523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00150" lvl="1" indent="-742950">
              <a:buClr>
                <a:srgbClr val="FF0000"/>
              </a:buClr>
              <a:buFont typeface="+mj-ea"/>
              <a:buAutoNum type="circleNumDbPlain" startAt="3"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189" y="2909073"/>
            <a:ext cx="3496863" cy="1826436"/>
          </a:xfrm>
          <a:prstGeom prst="rect">
            <a:avLst/>
          </a:prstGeom>
        </p:spPr>
      </p:pic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396495" y="4545108"/>
            <a:ext cx="1142605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设置边界：切换回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XY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平面，添加圆球将导线和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JJ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包住，选中球表面（右键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-Selection Mode-Faces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设置边界条件（右键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-Assign Boundary-Zero Tangential H Field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）；将球再变回实体（右键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-Selection Mode-Object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设置矩阵：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Parameters-Assign-Matrix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，勾选两条电流；设置求解步骤；</a:t>
            </a:r>
            <a:r>
              <a:rPr lang="zh-CN" altLang="en-US" dirty="0"/>
              <a:t>点击</a:t>
            </a:r>
            <a:r>
              <a:rPr lang="en-US" altLang="zh-CN" dirty="0"/>
              <a:t>validation check</a:t>
            </a:r>
            <a:r>
              <a:rPr lang="zh-CN" altLang="en-US" dirty="0"/>
              <a:t>进行验证，通过验证后点击</a:t>
            </a:r>
            <a:r>
              <a:rPr lang="en-US" altLang="zh-CN" dirty="0"/>
              <a:t>Analyze All</a:t>
            </a:r>
            <a:r>
              <a:rPr lang="zh-CN" altLang="en-US" dirty="0"/>
              <a:t>即可进行求解；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查看结果：</a:t>
            </a:r>
            <a:r>
              <a:rPr lang="en-US" altLang="zh-CN" dirty="0"/>
              <a:t>Results-Create Magnetostatic Report-Data Table</a:t>
            </a:r>
            <a:r>
              <a:rPr lang="zh-CN" altLang="en-US" dirty="0"/>
              <a:t>；选择</a:t>
            </a:r>
            <a:r>
              <a:rPr lang="en-US" altLang="zh-CN" dirty="0"/>
              <a:t>L</a:t>
            </a:r>
            <a:r>
              <a:rPr lang="zh-CN" altLang="en-US" dirty="0"/>
              <a:t>，选中导线自感</a:t>
            </a:r>
            <a:r>
              <a:rPr lang="en-US" altLang="zh-CN" dirty="0"/>
              <a:t>Matrix1.L(Current1,Current1)</a:t>
            </a:r>
            <a:r>
              <a:rPr lang="zh-CN" altLang="en-US" dirty="0"/>
              <a:t>，互感</a:t>
            </a:r>
            <a:r>
              <a:rPr lang="en-US" altLang="zh-CN" dirty="0"/>
              <a:t>Matrix1.L(Current1,Current2)</a:t>
            </a:r>
            <a:r>
              <a:rPr lang="zh-CN" altLang="en-US" dirty="0"/>
              <a:t>，</a:t>
            </a:r>
            <a:r>
              <a:rPr lang="en-US" altLang="zh-CN" dirty="0"/>
              <a:t>JJ</a:t>
            </a:r>
            <a:r>
              <a:rPr lang="zh-CN" altLang="en-US" dirty="0"/>
              <a:t>自感</a:t>
            </a:r>
            <a:r>
              <a:rPr lang="en-US" altLang="zh-CN" dirty="0"/>
              <a:t>Matrix1.L(Current2,Current)</a:t>
            </a:r>
            <a:r>
              <a:rPr lang="zh-CN" altLang="en-US" dirty="0"/>
              <a:t>，点击</a:t>
            </a:r>
            <a:r>
              <a:rPr lang="en-US" altLang="zh-CN" dirty="0"/>
              <a:t>New Report</a:t>
            </a:r>
            <a:r>
              <a:rPr lang="zh-CN" altLang="en-US" dirty="0"/>
              <a:t>查看结果。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925988" y="2058349"/>
            <a:ext cx="6498383" cy="12263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5" b="1" i="0" u="none" strike="noStrike" kern="1200" cap="none" spc="50" normalizeH="0" baseline="0" noProof="0" dirty="0">
              <a:ln w="11430"/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" y="6183208"/>
            <a:ext cx="12192176" cy="696978"/>
          </a:xfrm>
          <a:prstGeom prst="rect">
            <a:avLst/>
          </a:prstGeom>
        </p:spPr>
      </p:pic>
      <p:pic>
        <p:nvPicPr>
          <p:cNvPr id="59" name="Picture 3" descr="G:\刘俊霞\图片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16" y="5401641"/>
            <a:ext cx="3186651" cy="98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34389" y="764704"/>
            <a:ext cx="0" cy="611548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324840" y="976257"/>
            <a:ext cx="2875431" cy="1022876"/>
          </a:xfrm>
          <a:prstGeom prst="roundRect">
            <a:avLst>
              <a:gd name="adj" fmla="val 42181"/>
            </a:avLst>
          </a:prstGeom>
          <a:solidFill>
            <a:srgbClr val="FFFFFF"/>
          </a:solidFill>
          <a:ln w="19050" cap="rnd">
            <a:noFill/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1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kumimoji="0" lang="en-US" altLang="zh-CN" sz="481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808126" y="900652"/>
            <a:ext cx="6123310" cy="498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芯片参数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谐振腔频率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比特频率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电容值仿真</a:t>
            </a:r>
            <a:endParaRPr lang="en-US" altLang="zh-CN" sz="3605" b="1" spc="50" dirty="0">
              <a:ln w="1143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3605" b="1" i="0" u="none" strike="noStrike" kern="1200" cap="none" spc="50" normalizeH="0" baseline="0" noProof="0" dirty="0">
                <a:ln w="11430"/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互感值仿真</a:t>
            </a:r>
            <a:endParaRPr kumimoji="0" lang="en-US" altLang="zh-CN" sz="3605" b="1" i="0" u="none" strike="noStrike" kern="1200" cap="none" spc="50" normalizeH="0" baseline="0" noProof="0" dirty="0">
              <a:ln w="11430"/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2" indent="-742950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3605" b="1" spc="50" dirty="0">
                <a:ln w="1143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作业提交</a:t>
            </a:r>
            <a:endParaRPr kumimoji="0" lang="en-US" altLang="zh-CN" sz="3605" b="1" i="0" u="none" strike="noStrike" kern="1200" cap="none" spc="50" normalizeH="0" baseline="0" noProof="0" dirty="0">
              <a:ln w="11430"/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025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作业提交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554604" y="3663064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+mj-ea"/>
              <a:buAutoNum type="circleNumDbPlain" startAt="3"/>
              <a:defRPr/>
            </a:pPr>
            <a:endParaRPr lang="en-US" altLang="zh-CN" sz="3600" b="1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60021" y="132212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①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84906" y="119350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②</a:t>
            </a: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396495" y="5048011"/>
            <a:ext cx="1012372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构建仿真模型：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Project2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下有多个不同的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Design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BUS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BUS1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BUS2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每个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Design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下有多个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Setup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，构建好所有需要仿真的模型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提交任务：右键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Project2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，点击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Submit Job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（或者点击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HFSS- Submit Job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）进入提交任务界面；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F79A9D-F467-E70A-1BDA-E72932834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95" y="850885"/>
            <a:ext cx="11426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目的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：有多个任务待仿真时，一次性提交所有仿真任务，不需要等待一个任务完成再手动提交下一个任务。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AF9AA7-5673-3F07-78B4-7EE231D9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02" y="1353788"/>
            <a:ext cx="2305372" cy="31913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BAAD75-BCF3-7809-3453-44406DC58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474" y="1353789"/>
            <a:ext cx="3476260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02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8554604" y="3663064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+mj-ea"/>
              <a:buAutoNum type="circleNumDbPlain" startAt="3"/>
              <a:defRPr/>
            </a:pPr>
            <a:endParaRPr lang="en-US" altLang="zh-CN" sz="3600" b="1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-262352" y="787101"/>
            <a:ext cx="1523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00150" lvl="1" indent="-742950">
              <a:buClr>
                <a:srgbClr val="FF0000"/>
              </a:buClr>
              <a:buFont typeface="+mj-ea"/>
              <a:buAutoNum type="circleNumDbPlain" startAt="3"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5559623" y="1110266"/>
            <a:ext cx="5827386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设置任务：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默认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路径；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选择需要仿真任务的路径；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选择需要提交的任务：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All setups in project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project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中的所有任务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All setups in design: 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某个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design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中的所有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setup</a:t>
            </a:r>
          </a:p>
          <a:p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Single setup: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某个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design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中指定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setup</a:t>
            </a:r>
          </a:p>
          <a:p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点击提交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如果提交的任务已经在</a:t>
            </a:r>
            <a:r>
              <a:rPr lang="en-US" altLang="zh-CN" sz="16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sz="16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中打开，会提示如下信息，点击 是 ，</a:t>
            </a:r>
            <a:endParaRPr lang="en-US" altLang="zh-CN" sz="16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仿真任务被提交，勾选 监控此任务，可以查看任务进度。</a:t>
            </a:r>
            <a:endParaRPr lang="en-US" altLang="zh-CN" sz="16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3"/>
              <a:defRPr/>
            </a:pP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6F2F39-9896-4598-17A5-03E7E3B9E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91" y="0"/>
            <a:ext cx="4412140" cy="685800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A671E45-7A37-0D0E-150B-98448D8663B6}"/>
              </a:ext>
            </a:extLst>
          </p:cNvPr>
          <p:cNvCxnSpPr/>
          <p:nvPr/>
        </p:nvCxnSpPr>
        <p:spPr>
          <a:xfrm>
            <a:off x="988291" y="868218"/>
            <a:ext cx="38146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9EAED4A-7FCF-1CFF-8D65-B216DA51C51C}"/>
              </a:ext>
            </a:extLst>
          </p:cNvPr>
          <p:cNvSpPr txBox="1"/>
          <p:nvPr/>
        </p:nvSpPr>
        <p:spPr>
          <a:xfrm>
            <a:off x="3670037" y="833284"/>
            <a:ext cx="2835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HFSS</a:t>
            </a:r>
            <a:r>
              <a:rPr lang="zh-CN" altLang="en-US" sz="1400" dirty="0">
                <a:solidFill>
                  <a:srgbClr val="FF0000"/>
                </a:solidFill>
              </a:rPr>
              <a:t>路径，默认即可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4280F64-8B5E-3F76-B207-188E51693D60}"/>
              </a:ext>
            </a:extLst>
          </p:cNvPr>
          <p:cNvCxnSpPr/>
          <p:nvPr/>
        </p:nvCxnSpPr>
        <p:spPr>
          <a:xfrm>
            <a:off x="953647" y="1626721"/>
            <a:ext cx="38146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6234698-4AC4-236D-94C2-5F873BE36EFB}"/>
              </a:ext>
            </a:extLst>
          </p:cNvPr>
          <p:cNvSpPr txBox="1"/>
          <p:nvPr/>
        </p:nvSpPr>
        <p:spPr>
          <a:xfrm>
            <a:off x="1076925" y="1591784"/>
            <a:ext cx="2835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选择需要仿真任务的路径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0E44A5-3796-AE35-F507-926C19352066}"/>
              </a:ext>
            </a:extLst>
          </p:cNvPr>
          <p:cNvSpPr/>
          <p:nvPr/>
        </p:nvSpPr>
        <p:spPr>
          <a:xfrm>
            <a:off x="988291" y="2346036"/>
            <a:ext cx="2681746" cy="794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C77CF8-4F02-AE63-B1D3-375056B99F8C}"/>
              </a:ext>
            </a:extLst>
          </p:cNvPr>
          <p:cNvSpPr txBox="1"/>
          <p:nvPr/>
        </p:nvSpPr>
        <p:spPr>
          <a:xfrm>
            <a:off x="3706980" y="2392968"/>
            <a:ext cx="1132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选择需要提交的任务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3EEDCD-7A15-0606-186A-89A821AABF67}"/>
              </a:ext>
            </a:extLst>
          </p:cNvPr>
          <p:cNvSpPr txBox="1"/>
          <p:nvPr/>
        </p:nvSpPr>
        <p:spPr>
          <a:xfrm>
            <a:off x="4443584" y="6246938"/>
            <a:ext cx="913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提交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520B6A-51CE-3148-DB59-2DA395222E38}"/>
              </a:ext>
            </a:extLst>
          </p:cNvPr>
          <p:cNvSpPr/>
          <p:nvPr/>
        </p:nvSpPr>
        <p:spPr>
          <a:xfrm>
            <a:off x="3875544" y="6517771"/>
            <a:ext cx="650276" cy="3032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574B16E-EB57-7252-0D06-112CE33F1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012" y="4190012"/>
            <a:ext cx="3537370" cy="1425007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D042AED-DC4B-AE41-C432-6F8DC961602F}"/>
              </a:ext>
            </a:extLst>
          </p:cNvPr>
          <p:cNvCxnSpPr>
            <a:cxnSpLocks/>
          </p:cNvCxnSpPr>
          <p:nvPr/>
        </p:nvCxnSpPr>
        <p:spPr>
          <a:xfrm flipH="1">
            <a:off x="6974871" y="3813265"/>
            <a:ext cx="756736" cy="7601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B504A554-1453-9B06-2330-7DD7DF803B93}"/>
              </a:ext>
            </a:extLst>
          </p:cNvPr>
          <p:cNvSpPr/>
          <p:nvPr/>
        </p:nvSpPr>
        <p:spPr>
          <a:xfrm>
            <a:off x="7102765" y="5205322"/>
            <a:ext cx="851476" cy="4096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9D6EFDA-DB32-AFB4-4A03-DCA4A8DC4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231" y="4190012"/>
            <a:ext cx="2766023" cy="1795788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4AE6E5E3-833F-4DA4-5D8F-F7E3AD56D625}"/>
              </a:ext>
            </a:extLst>
          </p:cNvPr>
          <p:cNvSpPr/>
          <p:nvPr/>
        </p:nvSpPr>
        <p:spPr>
          <a:xfrm>
            <a:off x="9072972" y="5587311"/>
            <a:ext cx="1502663" cy="3707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8732FE1-B2EF-A9F4-E501-565287DDEC1B}"/>
              </a:ext>
            </a:extLst>
          </p:cNvPr>
          <p:cNvCxnSpPr>
            <a:cxnSpLocks/>
          </p:cNvCxnSpPr>
          <p:nvPr/>
        </p:nvCxnSpPr>
        <p:spPr>
          <a:xfrm>
            <a:off x="8227403" y="4112366"/>
            <a:ext cx="1596900" cy="14472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C5B27E8-E4D2-BFD4-ADCA-030A08F61A41}"/>
              </a:ext>
            </a:extLst>
          </p:cNvPr>
          <p:cNvCxnSpPr>
            <a:cxnSpLocks/>
          </p:cNvCxnSpPr>
          <p:nvPr/>
        </p:nvCxnSpPr>
        <p:spPr>
          <a:xfrm flipH="1" flipV="1">
            <a:off x="3491189" y="1433432"/>
            <a:ext cx="2070158" cy="3754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FB87672-B4A0-A5D2-6EC9-5C658892D4BB}"/>
              </a:ext>
            </a:extLst>
          </p:cNvPr>
          <p:cNvCxnSpPr>
            <a:cxnSpLocks/>
          </p:cNvCxnSpPr>
          <p:nvPr/>
        </p:nvCxnSpPr>
        <p:spPr>
          <a:xfrm flipH="1" flipV="1">
            <a:off x="4599709" y="787101"/>
            <a:ext cx="970874" cy="7448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BEA1D10-E92C-82DC-2CD6-FFD937D0AB64}"/>
              </a:ext>
            </a:extLst>
          </p:cNvPr>
          <p:cNvCxnSpPr>
            <a:cxnSpLocks/>
          </p:cNvCxnSpPr>
          <p:nvPr/>
        </p:nvCxnSpPr>
        <p:spPr>
          <a:xfrm flipH="1">
            <a:off x="3578523" y="2085827"/>
            <a:ext cx="1981100" cy="4351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224D128-19D4-D48A-1728-38C72E978C12}"/>
              </a:ext>
            </a:extLst>
          </p:cNvPr>
          <p:cNvCxnSpPr>
            <a:cxnSpLocks/>
          </p:cNvCxnSpPr>
          <p:nvPr/>
        </p:nvCxnSpPr>
        <p:spPr>
          <a:xfrm flipH="1">
            <a:off x="4008582" y="3236619"/>
            <a:ext cx="1642555" cy="32521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13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F08B70B7-BB1F-A02C-962C-BD19DFB0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2" y="860032"/>
            <a:ext cx="8102283" cy="56977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57A1450-0814-736C-11EF-681BB5148F46}"/>
              </a:ext>
            </a:extLst>
          </p:cNvPr>
          <p:cNvSpPr/>
          <p:nvPr/>
        </p:nvSpPr>
        <p:spPr>
          <a:xfrm>
            <a:off x="73891" y="1690254"/>
            <a:ext cx="1579418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97EE25-B845-F8F1-3AD0-6AC458CB13B0}"/>
              </a:ext>
            </a:extLst>
          </p:cNvPr>
          <p:cNvSpPr txBox="1"/>
          <p:nvPr/>
        </p:nvSpPr>
        <p:spPr>
          <a:xfrm>
            <a:off x="1577426" y="1530260"/>
            <a:ext cx="1193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任务状态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A19EBE-36A9-CA02-3189-3B8AC8C408C6}"/>
              </a:ext>
            </a:extLst>
          </p:cNvPr>
          <p:cNvSpPr/>
          <p:nvPr/>
        </p:nvSpPr>
        <p:spPr>
          <a:xfrm>
            <a:off x="73890" y="2022764"/>
            <a:ext cx="2410691" cy="3001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FB8C54-68D2-8D70-941D-93AD47950986}"/>
              </a:ext>
            </a:extLst>
          </p:cNvPr>
          <p:cNvSpPr txBox="1"/>
          <p:nvPr/>
        </p:nvSpPr>
        <p:spPr>
          <a:xfrm>
            <a:off x="2501062" y="2024407"/>
            <a:ext cx="1544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正在仿真的任务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AF1CFE-FF04-9D48-D6E0-9868626A9C2D}"/>
              </a:ext>
            </a:extLst>
          </p:cNvPr>
          <p:cNvSpPr/>
          <p:nvPr/>
        </p:nvSpPr>
        <p:spPr>
          <a:xfrm>
            <a:off x="118080" y="2531044"/>
            <a:ext cx="7991447" cy="34669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E2F323-6839-3D35-8AE4-1CE8344FACF7}"/>
              </a:ext>
            </a:extLst>
          </p:cNvPr>
          <p:cNvSpPr txBox="1"/>
          <p:nvPr/>
        </p:nvSpPr>
        <p:spPr>
          <a:xfrm>
            <a:off x="4662371" y="4975423"/>
            <a:ext cx="1544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仿真信息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F2CD02-4F0E-DC80-0313-D7C10DA41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363" y="2032001"/>
            <a:ext cx="365102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当任务状态为 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Completed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时仿真完成，打开文件即可查看所有结果。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1218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925988" y="2058349"/>
            <a:ext cx="6498383" cy="12263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2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5" b="1" i="0" u="none" strike="noStrike" kern="1200" cap="none" spc="50" normalizeH="0" baseline="0" noProof="0" dirty="0">
              <a:ln w="11430"/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" y="6183208"/>
            <a:ext cx="12192176" cy="696978"/>
          </a:xfrm>
          <a:prstGeom prst="rect">
            <a:avLst/>
          </a:prstGeom>
        </p:spPr>
      </p:pic>
      <p:pic>
        <p:nvPicPr>
          <p:cNvPr id="59" name="Picture 3" descr="G:\刘俊霞\图片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516" y="5401641"/>
            <a:ext cx="3186651" cy="98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34389" y="764704"/>
            <a:ext cx="0" cy="611548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324840" y="976257"/>
            <a:ext cx="2875431" cy="1022876"/>
          </a:xfrm>
          <a:prstGeom prst="roundRect">
            <a:avLst>
              <a:gd name="adj" fmla="val 42181"/>
            </a:avLst>
          </a:prstGeom>
          <a:solidFill>
            <a:srgbClr val="FFFFFF"/>
          </a:solidFill>
          <a:ln w="19050" cap="rnd">
            <a:noFill/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1099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1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endParaRPr kumimoji="0" lang="en-US" altLang="zh-CN" sz="481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668508" y="976257"/>
            <a:ext cx="6498382" cy="82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2" algn="l" defTabSz="10991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605" b="1" i="0" u="none" strike="noStrike" kern="1200" cap="none" spc="50" normalizeH="0" baseline="0" noProof="0" dirty="0">
                <a:ln w="11430"/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7. python</a:t>
            </a:r>
            <a:r>
              <a:rPr kumimoji="0" lang="zh-CN" altLang="en-US" sz="3605" b="1" i="0" u="none" strike="noStrike" kern="1200" cap="none" spc="50" normalizeH="0" baseline="0" noProof="0" dirty="0">
                <a:ln w="11430"/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en-US" altLang="zh-CN" sz="3605" b="1" i="0" u="none" strike="noStrike" kern="1200" cap="none" spc="50" normalizeH="0" baseline="0" noProof="0" dirty="0">
                <a:ln w="11430"/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HFSS</a:t>
            </a:r>
            <a:r>
              <a:rPr kumimoji="0" lang="zh-CN" altLang="en-US" sz="3605" b="1" i="0" u="none" strike="noStrike" kern="1200" cap="none" spc="50" normalizeH="0" baseline="0" noProof="0" dirty="0">
                <a:ln w="11430"/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联合仿真</a:t>
            </a:r>
            <a:endParaRPr kumimoji="0" lang="en-US" altLang="zh-CN" sz="3605" b="1" i="0" u="none" strike="noStrike" kern="1200" cap="none" spc="50" normalizeH="0" baseline="0" noProof="0" dirty="0">
              <a:ln w="11430"/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066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1BDC67-C15E-F6BA-1795-FDBB82D3EDF4}"/>
              </a:ext>
            </a:extLst>
          </p:cNvPr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python</a:t>
            </a:r>
            <a:r>
              <a:rPr lang="zh-CN" altLang="en-US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与</a:t>
            </a:r>
            <a:r>
              <a:rPr lang="en-US" altLang="zh-CN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联合仿真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A0A5E5-EA49-6FD7-61ED-DD47DD5F3331}"/>
              </a:ext>
            </a:extLst>
          </p:cNvPr>
          <p:cNvSpPr txBox="1"/>
          <p:nvPr/>
        </p:nvSpPr>
        <p:spPr>
          <a:xfrm>
            <a:off x="499235" y="1057671"/>
            <a:ext cx="696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https://blog.csdn.net/weixin_42312623/article/details/106186293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5A4E1A-437B-5A74-5153-FC75A5860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7" y="1548555"/>
            <a:ext cx="10363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链接里给的是三种方法，这里只介绍第一种方法。其效果为：</a:t>
            </a:r>
            <a:r>
              <a:rPr lang="zh-CN" altLang="en-US" dirty="0">
                <a:solidFill>
                  <a:prstClr val="black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将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dirty="0">
                <a:solidFill>
                  <a:prstClr val="black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的一段手动操作转化为代码，后续可以通过运行该代码重复这段操作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7A2C6BD-8585-7BA7-85B8-5CB67668A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6" y="2860825"/>
            <a:ext cx="11563927" cy="183443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6EA4C3A-2DEE-FD61-DE97-CBB367C04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18" y="2377406"/>
            <a:ext cx="101138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prstClr val="black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省流版教程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（网站截图）：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DE4A38-E629-04EB-7406-3AEA2E932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17" y="5089811"/>
            <a:ext cx="1075112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说明：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sym typeface="Wingdings" panose="05000000000000000000" pitchFamily="2" charset="2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sym typeface="Wingdings" panose="05000000000000000000" pitchFamily="2" charset="2"/>
              </a:rPr>
              <a:t>）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该方法</a:t>
            </a:r>
            <a:r>
              <a:rPr lang="zh-CN" altLang="en-US" dirty="0">
                <a:solidFill>
                  <a:prstClr val="black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只需要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dirty="0">
                <a:solidFill>
                  <a:prstClr val="black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软件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本身，不需要其他软件。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     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）后面涉及的内容均为对这段话意思的解读与实操。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     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）其他需要注意的点：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1.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代码和文件的路径中不能有汉字；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2. Windows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中路径为反斜杠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”\”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，而      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     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代码中的路径为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斜杠“</a:t>
            </a:r>
            <a:r>
              <a:rPr lang="en-US" altLang="zh-CN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”，更换路径时注意修改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3BCAB3F-5DA4-0650-827B-92AAB55558C8}"/>
              </a:ext>
            </a:extLst>
          </p:cNvPr>
          <p:cNvCxnSpPr>
            <a:cxnSpLocks/>
          </p:cNvCxnSpPr>
          <p:nvPr/>
        </p:nvCxnSpPr>
        <p:spPr>
          <a:xfrm>
            <a:off x="3020290" y="3269672"/>
            <a:ext cx="24845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994127F-2671-27CA-52F5-9783B63E46F7}"/>
              </a:ext>
            </a:extLst>
          </p:cNvPr>
          <p:cNvCxnSpPr>
            <a:cxnSpLocks/>
          </p:cNvCxnSpPr>
          <p:nvPr/>
        </p:nvCxnSpPr>
        <p:spPr>
          <a:xfrm>
            <a:off x="5504872" y="3846945"/>
            <a:ext cx="143163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D0BA454-9EDA-008A-6241-5C99A9D6987B}"/>
              </a:ext>
            </a:extLst>
          </p:cNvPr>
          <p:cNvCxnSpPr>
            <a:cxnSpLocks/>
          </p:cNvCxnSpPr>
          <p:nvPr/>
        </p:nvCxnSpPr>
        <p:spPr>
          <a:xfrm>
            <a:off x="7827817" y="3846945"/>
            <a:ext cx="37822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DE657A0-4D84-4110-0794-8DF77A9F947F}"/>
              </a:ext>
            </a:extLst>
          </p:cNvPr>
          <p:cNvCxnSpPr>
            <a:cxnSpLocks/>
          </p:cNvCxnSpPr>
          <p:nvPr/>
        </p:nvCxnSpPr>
        <p:spPr>
          <a:xfrm>
            <a:off x="6844145" y="4396509"/>
            <a:ext cx="10529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4453182-7792-2E65-6195-72F6802F27E8}"/>
              </a:ext>
            </a:extLst>
          </p:cNvPr>
          <p:cNvCxnSpPr>
            <a:cxnSpLocks/>
          </p:cNvCxnSpPr>
          <p:nvPr/>
        </p:nvCxnSpPr>
        <p:spPr>
          <a:xfrm>
            <a:off x="1967344" y="4396509"/>
            <a:ext cx="23091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56127F2-E793-B5CB-0547-F40233B98C0F}"/>
              </a:ext>
            </a:extLst>
          </p:cNvPr>
          <p:cNvSpPr/>
          <p:nvPr/>
        </p:nvSpPr>
        <p:spPr>
          <a:xfrm>
            <a:off x="415635" y="2890333"/>
            <a:ext cx="11563927" cy="18344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11689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1BDC67-C15E-F6BA-1795-FDBB82D3EDF4}"/>
              </a:ext>
            </a:extLst>
          </p:cNvPr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python</a:t>
            </a:r>
            <a:r>
              <a:rPr lang="zh-CN" altLang="en-US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与</a:t>
            </a:r>
            <a:r>
              <a:rPr lang="en-US" altLang="zh-CN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联合仿真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D220E7A-AE13-07C5-B0D5-A333A03B5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72" y="994359"/>
            <a:ext cx="101138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1.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打开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软件，可以看到默认的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Project1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0138599-3997-0133-15F6-DA8910B8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59" y="1466199"/>
            <a:ext cx="3714286" cy="1761905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C87F3A2-B349-992F-EBDB-9C921EEC5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998" y="3458239"/>
            <a:ext cx="55883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2.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录制代码：选择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Tools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→ 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Record Script To File...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即可新建文件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不妨叫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Test01.py)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4757D9A-562D-2B97-247D-6784A6E03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40" y="4175949"/>
            <a:ext cx="4457700" cy="2105025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23EBE94-AE03-57D5-0EB4-21D4B64A3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8593" y="973577"/>
            <a:ext cx="5426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3.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进行一段常规的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操作，并保存。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9A63C04-E9EA-3DA1-2FA7-FA7D1A39C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8593" y="3635643"/>
            <a:ext cx="5426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4.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停止录制：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Tools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→ 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Stop Script Recording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4ED399D5-9858-E7ED-ED58-BD05C122C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273" y="4064680"/>
            <a:ext cx="4410075" cy="22860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2BD44F76-3364-34DC-08FF-831B1D6BE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499" y="1322007"/>
            <a:ext cx="5085621" cy="2253931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FBDC7015-B4C7-4F45-74CE-7E02DAB3BC1F}"/>
              </a:ext>
            </a:extLst>
          </p:cNvPr>
          <p:cNvSpPr txBox="1"/>
          <p:nvPr/>
        </p:nvSpPr>
        <p:spPr>
          <a:xfrm>
            <a:off x="9292453" y="1856799"/>
            <a:ext cx="23994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例如：这里调用了</a:t>
            </a:r>
            <a:r>
              <a:rPr lang="en-US" altLang="zh-CN" sz="1400" dirty="0">
                <a:solidFill>
                  <a:srgbClr val="FF0000"/>
                </a:solidFill>
              </a:rPr>
              <a:t>GDSII</a:t>
            </a:r>
            <a:r>
              <a:rPr lang="zh-CN" altLang="en-US" sz="1400" dirty="0">
                <a:solidFill>
                  <a:srgbClr val="FF0000"/>
                </a:solidFill>
              </a:rPr>
              <a:t>文件，设置了边界条件，并保存了文件。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5C8DFCE-B434-9B02-2C2A-AEE71CC1FFC7}"/>
              </a:ext>
            </a:extLst>
          </p:cNvPr>
          <p:cNvSpPr/>
          <p:nvPr/>
        </p:nvSpPr>
        <p:spPr>
          <a:xfrm>
            <a:off x="8476022" y="5623091"/>
            <a:ext cx="3041723" cy="2405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F747E46-A7EE-3CE4-6BDF-880638184CB7}"/>
              </a:ext>
            </a:extLst>
          </p:cNvPr>
          <p:cNvSpPr/>
          <p:nvPr/>
        </p:nvSpPr>
        <p:spPr>
          <a:xfrm>
            <a:off x="2569915" y="5741712"/>
            <a:ext cx="3041723" cy="2405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A3DBB6D-52A9-A470-B64D-F12280D72162}"/>
              </a:ext>
            </a:extLst>
          </p:cNvPr>
          <p:cNvCxnSpPr>
            <a:cxnSpLocks/>
          </p:cNvCxnSpPr>
          <p:nvPr/>
        </p:nvCxnSpPr>
        <p:spPr>
          <a:xfrm flipH="1">
            <a:off x="4236779" y="5007365"/>
            <a:ext cx="529184" cy="6986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9773805A-E4FC-BBB6-C7E7-8ABD5AEF67C9}"/>
              </a:ext>
            </a:extLst>
          </p:cNvPr>
          <p:cNvSpPr txBox="1"/>
          <p:nvPr/>
        </p:nvSpPr>
        <p:spPr>
          <a:xfrm>
            <a:off x="4380306" y="4622974"/>
            <a:ext cx="1193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录制代码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2A8AE38-CD2A-5BB1-2F20-273181E91E27}"/>
              </a:ext>
            </a:extLst>
          </p:cNvPr>
          <p:cNvCxnSpPr>
            <a:cxnSpLocks/>
          </p:cNvCxnSpPr>
          <p:nvPr/>
        </p:nvCxnSpPr>
        <p:spPr>
          <a:xfrm flipH="1">
            <a:off x="10090046" y="4924628"/>
            <a:ext cx="529184" cy="6986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CCF19321-BD71-11F6-78C8-09267B07C724}"/>
              </a:ext>
            </a:extLst>
          </p:cNvPr>
          <p:cNvSpPr txBox="1"/>
          <p:nvPr/>
        </p:nvSpPr>
        <p:spPr>
          <a:xfrm>
            <a:off x="10248563" y="4549549"/>
            <a:ext cx="1193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停止录制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978FF9E-2719-C60C-A296-00531408C1AA}"/>
              </a:ext>
            </a:extLst>
          </p:cNvPr>
          <p:cNvSpPr/>
          <p:nvPr/>
        </p:nvSpPr>
        <p:spPr>
          <a:xfrm>
            <a:off x="1156459" y="2870099"/>
            <a:ext cx="1126487" cy="3026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F02A328-4FE9-C586-AF73-2FAEBD00DC1F}"/>
              </a:ext>
            </a:extLst>
          </p:cNvPr>
          <p:cNvSpPr txBox="1"/>
          <p:nvPr/>
        </p:nvSpPr>
        <p:spPr>
          <a:xfrm>
            <a:off x="2854763" y="3192641"/>
            <a:ext cx="2729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默认状态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7742561-AAE8-2E08-ABD7-BA490EA80360}"/>
              </a:ext>
            </a:extLst>
          </p:cNvPr>
          <p:cNvCxnSpPr>
            <a:cxnSpLocks/>
          </p:cNvCxnSpPr>
          <p:nvPr/>
        </p:nvCxnSpPr>
        <p:spPr>
          <a:xfrm flipH="1" flipV="1">
            <a:off x="2333944" y="3041154"/>
            <a:ext cx="500913" cy="2332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798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1BDC67-C15E-F6BA-1795-FDBB82D3EDF4}"/>
              </a:ext>
            </a:extLst>
          </p:cNvPr>
          <p:cNvSpPr txBox="1"/>
          <p:nvPr/>
        </p:nvSpPr>
        <p:spPr>
          <a:xfrm>
            <a:off x="499235" y="1550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python</a:t>
            </a:r>
            <a:r>
              <a:rPr lang="zh-CN" altLang="en-US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与</a:t>
            </a:r>
            <a:r>
              <a:rPr lang="en-US" altLang="zh-CN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sz="28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联合仿真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D220E7A-AE13-07C5-B0D5-A333A03B5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90" y="957538"/>
            <a:ext cx="59219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5.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用记事本打开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Test01.py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，删除代码里头的汉字“月”。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B48DB5-A2B9-EF9F-42A3-1AACD668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2" y="1498702"/>
            <a:ext cx="5091353" cy="213949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A4BED9E-804F-1D7B-2168-77FCB8E6E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81" y="3648068"/>
            <a:ext cx="5537752" cy="2568005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E2F5594-F8CE-33FE-AFA4-E64944F1879A}"/>
              </a:ext>
            </a:extLst>
          </p:cNvPr>
          <p:cNvCxnSpPr>
            <a:cxnSpLocks/>
          </p:cNvCxnSpPr>
          <p:nvPr/>
        </p:nvCxnSpPr>
        <p:spPr>
          <a:xfrm>
            <a:off x="1043709" y="3334327"/>
            <a:ext cx="536765" cy="128385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252C863-06A0-36D0-0C8D-D68A26084A8B}"/>
              </a:ext>
            </a:extLst>
          </p:cNvPr>
          <p:cNvSpPr/>
          <p:nvPr/>
        </p:nvSpPr>
        <p:spPr>
          <a:xfrm>
            <a:off x="1465493" y="4618181"/>
            <a:ext cx="797416" cy="2247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7464F1-878D-D5FE-708C-6FB057E0F062}"/>
              </a:ext>
            </a:extLst>
          </p:cNvPr>
          <p:cNvSpPr txBox="1"/>
          <p:nvPr/>
        </p:nvSpPr>
        <p:spPr>
          <a:xfrm>
            <a:off x="446967" y="2983467"/>
            <a:ext cx="1193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删除汉字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780040-1521-690B-991A-F27B9A96B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9164" y="968099"/>
            <a:ext cx="57222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6.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调用程序：重新打开软件，选择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Tools 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→ 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Run Script...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即可运行代码，代码会重复所录制的</a:t>
            </a:r>
            <a:r>
              <a:rPr lang="en-US" altLang="zh-CN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HFSS</a:t>
            </a:r>
            <a:r>
              <a:rPr lang="zh-CN" altLang="en-US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操作</a:t>
            </a:r>
            <a:endParaRPr lang="en-US" altLang="zh-CN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53BCC3-A5A1-7920-8481-1B2F221DE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291" y="1708093"/>
            <a:ext cx="4200000" cy="18571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F92B5A5-3A8C-7FED-8100-9358BEF6F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291" y="3813583"/>
            <a:ext cx="4572000" cy="252412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B1ACB8D-CE3D-6794-7DB9-DAFCF8D7D240}"/>
              </a:ext>
            </a:extLst>
          </p:cNvPr>
          <p:cNvSpPr/>
          <p:nvPr/>
        </p:nvSpPr>
        <p:spPr>
          <a:xfrm>
            <a:off x="8302871" y="4925108"/>
            <a:ext cx="3274348" cy="3026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793727-1728-B0B1-D262-06CADC816186}"/>
              </a:ext>
            </a:extLst>
          </p:cNvPr>
          <p:cNvSpPr/>
          <p:nvPr/>
        </p:nvSpPr>
        <p:spPr>
          <a:xfrm>
            <a:off x="6687126" y="3137355"/>
            <a:ext cx="1126487" cy="3026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EF07EF-6BF3-27A2-5DFD-1A84296289F8}"/>
              </a:ext>
            </a:extLst>
          </p:cNvPr>
          <p:cNvSpPr txBox="1"/>
          <p:nvPr/>
        </p:nvSpPr>
        <p:spPr>
          <a:xfrm>
            <a:off x="8002018" y="3541628"/>
            <a:ext cx="2729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确保调用代码前为默认状态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D2E2705-2BCB-84B9-CB34-A553D77ABFF4}"/>
              </a:ext>
            </a:extLst>
          </p:cNvPr>
          <p:cNvCxnSpPr>
            <a:cxnSpLocks/>
          </p:cNvCxnSpPr>
          <p:nvPr/>
        </p:nvCxnSpPr>
        <p:spPr>
          <a:xfrm flipH="1" flipV="1">
            <a:off x="7864611" y="3308410"/>
            <a:ext cx="500913" cy="2332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54120A8-3701-DBD9-24FD-23D79182462E}"/>
              </a:ext>
            </a:extLst>
          </p:cNvPr>
          <p:cNvSpPr txBox="1"/>
          <p:nvPr/>
        </p:nvSpPr>
        <p:spPr>
          <a:xfrm>
            <a:off x="10209210" y="5522374"/>
            <a:ext cx="1044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调用代码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BFBF2BA-C97D-F8E1-3D98-4C534C634929}"/>
              </a:ext>
            </a:extLst>
          </p:cNvPr>
          <p:cNvCxnSpPr>
            <a:cxnSpLocks/>
          </p:cNvCxnSpPr>
          <p:nvPr/>
        </p:nvCxnSpPr>
        <p:spPr>
          <a:xfrm flipH="1" flipV="1">
            <a:off x="10012723" y="5279029"/>
            <a:ext cx="500913" cy="2332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59BD94A-C7AF-B955-FEF6-46D6FCD6BF85}"/>
              </a:ext>
            </a:extLst>
          </p:cNvPr>
          <p:cNvSpPr/>
          <p:nvPr/>
        </p:nvSpPr>
        <p:spPr>
          <a:xfrm>
            <a:off x="3723783" y="2050789"/>
            <a:ext cx="875926" cy="3044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158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528" y="2204864"/>
            <a:ext cx="8639646" cy="2248650"/>
          </a:xfrm>
          <a:prstGeom prst="rect">
            <a:avLst/>
          </a:prstGeom>
          <a:noFill/>
        </p:spPr>
        <p:txBody>
          <a:bodyPr wrap="square" lIns="75585" tIns="37793" rIns="75585" bIns="37793" rtlCol="0">
            <a:spAutoFit/>
          </a:bodyPr>
          <a:lstStyle/>
          <a:p>
            <a:pPr marL="0" marR="0" lvl="0" indent="0" algn="ctr" defTabSz="67119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报告完毕</a:t>
            </a:r>
          </a:p>
          <a:p>
            <a:pPr marL="0" marR="0" lvl="0" indent="0" algn="ctr" defTabSz="67119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不当之处，敬请批评指正！</a:t>
            </a:r>
          </a:p>
        </p:txBody>
      </p:sp>
      <p:sp>
        <p:nvSpPr>
          <p:cNvPr id="3" name="灯片编号占位符 2"/>
          <p:cNvSpPr txBox="1"/>
          <p:nvPr/>
        </p:nvSpPr>
        <p:spPr>
          <a:xfrm>
            <a:off x="11717271" y="6565542"/>
            <a:ext cx="427401" cy="3198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5915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1195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7110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2390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8940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4220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0135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5415" algn="l" defTabSz="67119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711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4696-B6D4-4576-A30C-C46B99DA508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540d0a3-df0d-45a1-86d5-36e3b6280e6a"/>
  <p:tag name="COMMONDATA" val="eyJoZGlkIjoiMzY5NzczYmY4NmQ2NjRlOThkOGU0YThmMmFiZTQzN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425,&quot;width&quot;:11280}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1779</Words>
  <Application>Microsoft Office PowerPoint</Application>
  <PresentationFormat>宽屏</PresentationFormat>
  <Paragraphs>206</Paragraphs>
  <Slides>29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等线 Light</vt:lpstr>
      <vt:lpstr>微软雅黑</vt:lpstr>
      <vt:lpstr>Arial</vt:lpstr>
      <vt:lpstr>Calibri</vt:lpstr>
      <vt:lpstr>2_Office 主题​​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Xiang</dc:creator>
  <cp:lastModifiedBy>Xuefei Liu</cp:lastModifiedBy>
  <cp:revision>65</cp:revision>
  <dcterms:created xsi:type="dcterms:W3CDTF">2022-06-05T12:05:00Z</dcterms:created>
  <dcterms:modified xsi:type="dcterms:W3CDTF">2023-09-26T06:49:16Z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9160829C5A7046D4993522DE5DE7971D</vt:lpwstr>
  </property>
  <property fmtid="{D5CDD505-2E9C-101B-9397-08002B2CF9AE}" pid="3" name="KSOProductBuildVer">
    <vt:lpwstr>2052-11.1.0.13703</vt:lpwstr>
  </property>
</Properties>
</file>